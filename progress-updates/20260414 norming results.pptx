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66" r:id="rId4"/>
    <p:sldId id="258" r:id="rId5"/>
    <p:sldId id="260" r:id="rId6"/>
    <p:sldId id="259" r:id="rId7"/>
    <p:sldId id="267" r:id="rId8"/>
    <p:sldId id="261" r:id="rId9"/>
    <p:sldId id="265" r:id="rId10"/>
    <p:sldId id="275" r:id="rId11"/>
    <p:sldId id="263" r:id="rId12"/>
    <p:sldId id="264" r:id="rId13"/>
    <p:sldId id="269" r:id="rId14"/>
    <p:sldId id="272" r:id="rId15"/>
    <p:sldId id="271" r:id="rId16"/>
    <p:sldId id="274" r:id="rId17"/>
    <p:sldId id="273" r:id="rId18"/>
    <p:sldId id="270" r:id="rId19"/>
    <p:sldId id="276" r:id="rId20"/>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FF7E79"/>
    <a:srgbClr val="DAF1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1"/>
  </p:normalViewPr>
  <p:slideViewPr>
    <p:cSldViewPr snapToGrid="0">
      <p:cViewPr varScale="1">
        <p:scale>
          <a:sx n="106" d="100"/>
          <a:sy n="106" d="100"/>
        </p:scale>
        <p:origin x="69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B0D4F-7B20-C843-AEA0-6DA76DB40034}" type="datetimeFigureOut">
              <a:rPr lang="en-TW" smtClean="0"/>
              <a:t>2026/6/5</a:t>
            </a:fld>
            <a:endParaRPr lang="en-T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9DE05-7567-F84F-A67A-D7F194335F95}" type="slidenum">
              <a:rPr lang="en-TW" smtClean="0"/>
              <a:t>‹#›</a:t>
            </a:fld>
            <a:endParaRPr lang="en-TW"/>
          </a:p>
        </p:txBody>
      </p:sp>
    </p:spTree>
    <p:extLst>
      <p:ext uri="{BB962C8B-B14F-4D97-AF65-F5344CB8AC3E}">
        <p14:creationId xmlns:p14="http://schemas.microsoft.com/office/powerpoint/2010/main" val="1693300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4C09DE05-7567-F84F-A67A-D7F194335F95}" type="slidenum">
              <a:rPr lang="en-TW" smtClean="0"/>
              <a:t>2</a:t>
            </a:fld>
            <a:endParaRPr lang="en-TW"/>
          </a:p>
        </p:txBody>
      </p:sp>
    </p:spTree>
    <p:extLst>
      <p:ext uri="{BB962C8B-B14F-4D97-AF65-F5344CB8AC3E}">
        <p14:creationId xmlns:p14="http://schemas.microsoft.com/office/powerpoint/2010/main" val="4020568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4C09DE05-7567-F84F-A67A-D7F194335F95}" type="slidenum">
              <a:rPr lang="en-TW" smtClean="0"/>
              <a:t>3</a:t>
            </a:fld>
            <a:endParaRPr lang="en-TW"/>
          </a:p>
        </p:txBody>
      </p:sp>
    </p:spTree>
    <p:extLst>
      <p:ext uri="{BB962C8B-B14F-4D97-AF65-F5344CB8AC3E}">
        <p14:creationId xmlns:p14="http://schemas.microsoft.com/office/powerpoint/2010/main" val="914174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4C09DE05-7567-F84F-A67A-D7F194335F95}" type="slidenum">
              <a:rPr lang="en-TW" smtClean="0"/>
              <a:t>7</a:t>
            </a:fld>
            <a:endParaRPr lang="en-TW"/>
          </a:p>
        </p:txBody>
      </p:sp>
    </p:spTree>
    <p:extLst>
      <p:ext uri="{BB962C8B-B14F-4D97-AF65-F5344CB8AC3E}">
        <p14:creationId xmlns:p14="http://schemas.microsoft.com/office/powerpoint/2010/main" val="1053677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A7FC-61CE-C445-5FA0-422F5768AC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W"/>
          </a:p>
        </p:txBody>
      </p:sp>
      <p:sp>
        <p:nvSpPr>
          <p:cNvPr id="3" name="Subtitle 2">
            <a:extLst>
              <a:ext uri="{FF2B5EF4-FFF2-40B4-BE49-F238E27FC236}">
                <a16:creationId xmlns:a16="http://schemas.microsoft.com/office/drawing/2014/main" id="{E57D9706-D057-E602-874E-8BF5540341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W"/>
          </a:p>
        </p:txBody>
      </p:sp>
      <p:sp>
        <p:nvSpPr>
          <p:cNvPr id="4" name="Date Placeholder 3">
            <a:extLst>
              <a:ext uri="{FF2B5EF4-FFF2-40B4-BE49-F238E27FC236}">
                <a16:creationId xmlns:a16="http://schemas.microsoft.com/office/drawing/2014/main" id="{3BB1BF8B-5700-9007-AA8E-9A9A7F415490}"/>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5" name="Footer Placeholder 4">
            <a:extLst>
              <a:ext uri="{FF2B5EF4-FFF2-40B4-BE49-F238E27FC236}">
                <a16:creationId xmlns:a16="http://schemas.microsoft.com/office/drawing/2014/main" id="{C254FA1D-E19E-E6E4-6515-733501DEAC3C}"/>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260F58C4-D8F5-1F54-C9B1-B385A0AAD25F}"/>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231342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D2317-EE33-D797-A1EA-BEA1FEF70CA3}"/>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C1948163-8A34-F7A2-2012-106FC07895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AFA82CA2-1DCD-2467-0EB1-39F56F89E380}"/>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5" name="Footer Placeholder 4">
            <a:extLst>
              <a:ext uri="{FF2B5EF4-FFF2-40B4-BE49-F238E27FC236}">
                <a16:creationId xmlns:a16="http://schemas.microsoft.com/office/drawing/2014/main" id="{42FE6D0E-36FE-F1BE-4873-556CFE1A306F}"/>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E2FAB986-3E3A-D316-038C-6CD66DB5A306}"/>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273327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6E58F-E784-4A80-AE60-335CBC2799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W"/>
          </a:p>
        </p:txBody>
      </p:sp>
      <p:sp>
        <p:nvSpPr>
          <p:cNvPr id="3" name="Text Placeholder 2">
            <a:extLst>
              <a:ext uri="{FF2B5EF4-FFF2-40B4-BE49-F238E27FC236}">
                <a16:creationId xmlns:a16="http://schemas.microsoft.com/office/drawing/2014/main" id="{578B3731-01C0-D34B-4BBA-81FC84AE95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185340-76B6-0472-43A0-887DC6A136AC}"/>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5" name="Footer Placeholder 4">
            <a:extLst>
              <a:ext uri="{FF2B5EF4-FFF2-40B4-BE49-F238E27FC236}">
                <a16:creationId xmlns:a16="http://schemas.microsoft.com/office/drawing/2014/main" id="{92F70F21-C1D8-AA90-62E0-129340999EEB}"/>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A0E3CB5F-15DD-99B3-BA0A-94BA2151E2E0}"/>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249228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86314-EAF2-36A6-AFEE-93D98DF70554}"/>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209011FC-8D5E-CDBE-218F-161A6C8142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Content Placeholder 3">
            <a:extLst>
              <a:ext uri="{FF2B5EF4-FFF2-40B4-BE49-F238E27FC236}">
                <a16:creationId xmlns:a16="http://schemas.microsoft.com/office/drawing/2014/main" id="{30ACFDA6-5D5A-6DE4-EC89-E798A1AE3D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Date Placeholder 4">
            <a:extLst>
              <a:ext uri="{FF2B5EF4-FFF2-40B4-BE49-F238E27FC236}">
                <a16:creationId xmlns:a16="http://schemas.microsoft.com/office/drawing/2014/main" id="{42219978-3038-095F-A401-6D0E8E0D06D9}"/>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6" name="Footer Placeholder 5">
            <a:extLst>
              <a:ext uri="{FF2B5EF4-FFF2-40B4-BE49-F238E27FC236}">
                <a16:creationId xmlns:a16="http://schemas.microsoft.com/office/drawing/2014/main" id="{00686BBE-35B1-D4DB-2A5C-B7E913D74CF8}"/>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EEE5825A-32D8-E646-6AA1-D7DB1F2FDD88}"/>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3565544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5FE38-6722-9EA0-A071-0A53E8DF6510}"/>
              </a:ext>
            </a:extLst>
          </p:cNvPr>
          <p:cNvSpPr>
            <a:spLocks noGrp="1"/>
          </p:cNvSpPr>
          <p:nvPr>
            <p:ph type="title"/>
          </p:nvPr>
        </p:nvSpPr>
        <p:spPr>
          <a:xfrm>
            <a:off x="839788" y="365125"/>
            <a:ext cx="10515600" cy="1325563"/>
          </a:xfrm>
        </p:spPr>
        <p:txBody>
          <a:bodyPr/>
          <a:lstStyle/>
          <a:p>
            <a:r>
              <a:rPr lang="en-US"/>
              <a:t>Click to edit Master title style</a:t>
            </a:r>
            <a:endParaRPr lang="en-TW"/>
          </a:p>
        </p:txBody>
      </p:sp>
      <p:sp>
        <p:nvSpPr>
          <p:cNvPr id="3" name="Text Placeholder 2">
            <a:extLst>
              <a:ext uri="{FF2B5EF4-FFF2-40B4-BE49-F238E27FC236}">
                <a16:creationId xmlns:a16="http://schemas.microsoft.com/office/drawing/2014/main" id="{C1C6AE9A-85D5-177E-E671-5DE629D27D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6D6A34-1237-6FF7-8814-15A5BC58BF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Text Placeholder 4">
            <a:extLst>
              <a:ext uri="{FF2B5EF4-FFF2-40B4-BE49-F238E27FC236}">
                <a16:creationId xmlns:a16="http://schemas.microsoft.com/office/drawing/2014/main" id="{DE68110D-1E83-EC13-DD21-E209BFEC5F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61DA7D-CEB8-66F9-7120-2FD2D0949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7" name="Date Placeholder 6">
            <a:extLst>
              <a:ext uri="{FF2B5EF4-FFF2-40B4-BE49-F238E27FC236}">
                <a16:creationId xmlns:a16="http://schemas.microsoft.com/office/drawing/2014/main" id="{D9524846-3752-3B2F-0CEE-93C34BBEAF39}"/>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8" name="Footer Placeholder 7">
            <a:extLst>
              <a:ext uri="{FF2B5EF4-FFF2-40B4-BE49-F238E27FC236}">
                <a16:creationId xmlns:a16="http://schemas.microsoft.com/office/drawing/2014/main" id="{B9F0BC02-F703-CC6A-5E38-7783DFBB0B95}"/>
              </a:ext>
            </a:extLst>
          </p:cNvPr>
          <p:cNvSpPr>
            <a:spLocks noGrp="1"/>
          </p:cNvSpPr>
          <p:nvPr>
            <p:ph type="ftr" sz="quarter" idx="11"/>
          </p:nvPr>
        </p:nvSpPr>
        <p:spPr/>
        <p:txBody>
          <a:bodyPr/>
          <a:lstStyle/>
          <a:p>
            <a:endParaRPr lang="en-TW"/>
          </a:p>
        </p:txBody>
      </p:sp>
      <p:sp>
        <p:nvSpPr>
          <p:cNvPr id="9" name="Slide Number Placeholder 8">
            <a:extLst>
              <a:ext uri="{FF2B5EF4-FFF2-40B4-BE49-F238E27FC236}">
                <a16:creationId xmlns:a16="http://schemas.microsoft.com/office/drawing/2014/main" id="{A5960B1E-851B-8A05-B114-1152EE35977B}"/>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38365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0A70B-1F87-4327-F276-D46FC7250560}"/>
              </a:ext>
            </a:extLst>
          </p:cNvPr>
          <p:cNvSpPr>
            <a:spLocks noGrp="1"/>
          </p:cNvSpPr>
          <p:nvPr>
            <p:ph type="title"/>
          </p:nvPr>
        </p:nvSpPr>
        <p:spPr/>
        <p:txBody>
          <a:bodyPr/>
          <a:lstStyle/>
          <a:p>
            <a:r>
              <a:rPr lang="en-US"/>
              <a:t>Click to edit Master title style</a:t>
            </a:r>
            <a:endParaRPr lang="en-TW"/>
          </a:p>
        </p:txBody>
      </p:sp>
      <p:sp>
        <p:nvSpPr>
          <p:cNvPr id="3" name="Date Placeholder 2">
            <a:extLst>
              <a:ext uri="{FF2B5EF4-FFF2-40B4-BE49-F238E27FC236}">
                <a16:creationId xmlns:a16="http://schemas.microsoft.com/office/drawing/2014/main" id="{EEDE9612-725F-E5A2-EDA3-95409D1C8A89}"/>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4" name="Footer Placeholder 3">
            <a:extLst>
              <a:ext uri="{FF2B5EF4-FFF2-40B4-BE49-F238E27FC236}">
                <a16:creationId xmlns:a16="http://schemas.microsoft.com/office/drawing/2014/main" id="{D65B23DA-5068-2AC7-F027-1792E1151819}"/>
              </a:ext>
            </a:extLst>
          </p:cNvPr>
          <p:cNvSpPr>
            <a:spLocks noGrp="1"/>
          </p:cNvSpPr>
          <p:nvPr>
            <p:ph type="ftr" sz="quarter" idx="11"/>
          </p:nvPr>
        </p:nvSpPr>
        <p:spPr/>
        <p:txBody>
          <a:bodyPr/>
          <a:lstStyle/>
          <a:p>
            <a:endParaRPr lang="en-TW"/>
          </a:p>
        </p:txBody>
      </p:sp>
      <p:sp>
        <p:nvSpPr>
          <p:cNvPr id="5" name="Slide Number Placeholder 4">
            <a:extLst>
              <a:ext uri="{FF2B5EF4-FFF2-40B4-BE49-F238E27FC236}">
                <a16:creationId xmlns:a16="http://schemas.microsoft.com/office/drawing/2014/main" id="{E8E33136-B781-3C72-9A98-B3036EFAB019}"/>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1211317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22925D-D4BA-4ECA-31DA-0C2B7816C57E}"/>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3" name="Footer Placeholder 2">
            <a:extLst>
              <a:ext uri="{FF2B5EF4-FFF2-40B4-BE49-F238E27FC236}">
                <a16:creationId xmlns:a16="http://schemas.microsoft.com/office/drawing/2014/main" id="{959A6521-E4A4-DD5B-47D6-A60E51A0CD80}"/>
              </a:ext>
            </a:extLst>
          </p:cNvPr>
          <p:cNvSpPr>
            <a:spLocks noGrp="1"/>
          </p:cNvSpPr>
          <p:nvPr>
            <p:ph type="ftr" sz="quarter" idx="11"/>
          </p:nvPr>
        </p:nvSpPr>
        <p:spPr/>
        <p:txBody>
          <a:bodyPr/>
          <a:lstStyle/>
          <a:p>
            <a:endParaRPr lang="en-TW"/>
          </a:p>
        </p:txBody>
      </p:sp>
      <p:sp>
        <p:nvSpPr>
          <p:cNvPr id="4" name="Slide Number Placeholder 3">
            <a:extLst>
              <a:ext uri="{FF2B5EF4-FFF2-40B4-BE49-F238E27FC236}">
                <a16:creationId xmlns:a16="http://schemas.microsoft.com/office/drawing/2014/main" id="{E5A97055-F987-FA14-986F-C7DCEFF9CB76}"/>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2795528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B26D-A27B-A0C5-067D-55468AFE7A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Content Placeholder 2">
            <a:extLst>
              <a:ext uri="{FF2B5EF4-FFF2-40B4-BE49-F238E27FC236}">
                <a16:creationId xmlns:a16="http://schemas.microsoft.com/office/drawing/2014/main" id="{1AD8B853-9EB2-5CA5-D3A7-DC10879DA2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Text Placeholder 3">
            <a:extLst>
              <a:ext uri="{FF2B5EF4-FFF2-40B4-BE49-F238E27FC236}">
                <a16:creationId xmlns:a16="http://schemas.microsoft.com/office/drawing/2014/main" id="{93E32099-FC93-8FAE-124A-9316AAB4B8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7495C-1EAE-7594-E678-B236BC4C35FC}"/>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6" name="Footer Placeholder 5">
            <a:extLst>
              <a:ext uri="{FF2B5EF4-FFF2-40B4-BE49-F238E27FC236}">
                <a16:creationId xmlns:a16="http://schemas.microsoft.com/office/drawing/2014/main" id="{67E153CD-2635-F9C0-5518-B17AF1560CFA}"/>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FE645C3F-D228-A8FA-14BB-EE402E630444}"/>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1524712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01C1-8FE1-8976-A379-ECDB45F87E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Picture Placeholder 2">
            <a:extLst>
              <a:ext uri="{FF2B5EF4-FFF2-40B4-BE49-F238E27FC236}">
                <a16:creationId xmlns:a16="http://schemas.microsoft.com/office/drawing/2014/main" id="{9EEF787F-0D12-1E4F-379D-5B211F2A08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W"/>
          </a:p>
        </p:txBody>
      </p:sp>
      <p:sp>
        <p:nvSpPr>
          <p:cNvPr id="4" name="Text Placeholder 3">
            <a:extLst>
              <a:ext uri="{FF2B5EF4-FFF2-40B4-BE49-F238E27FC236}">
                <a16:creationId xmlns:a16="http://schemas.microsoft.com/office/drawing/2014/main" id="{9A9641B5-C367-C8AB-6A01-BC7A5DF76F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BD60E-0734-1D60-E1B6-8415A758B84B}"/>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6" name="Footer Placeholder 5">
            <a:extLst>
              <a:ext uri="{FF2B5EF4-FFF2-40B4-BE49-F238E27FC236}">
                <a16:creationId xmlns:a16="http://schemas.microsoft.com/office/drawing/2014/main" id="{56C3B5FC-07A3-0A4D-64F5-DAC7D311EF23}"/>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86333820-91B3-AF08-4EF0-8528F57DC988}"/>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3162978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E1CE-C768-19E2-A6CD-0A1C618090F5}"/>
              </a:ext>
            </a:extLst>
          </p:cNvPr>
          <p:cNvSpPr>
            <a:spLocks noGrp="1"/>
          </p:cNvSpPr>
          <p:nvPr>
            <p:ph type="title"/>
          </p:nvPr>
        </p:nvSpPr>
        <p:spPr/>
        <p:txBody>
          <a:bodyPr/>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DA981C1B-67C5-F07F-88A4-FD9AABA18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86580E68-BC1E-C9AF-C55A-4235F23C3686}"/>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5" name="Footer Placeholder 4">
            <a:extLst>
              <a:ext uri="{FF2B5EF4-FFF2-40B4-BE49-F238E27FC236}">
                <a16:creationId xmlns:a16="http://schemas.microsoft.com/office/drawing/2014/main" id="{4B5714A6-E3CC-A3BF-9720-D4AC77EFE1CD}"/>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23903CC9-58BE-A0DB-A1CA-F3B50461D2FD}"/>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3571775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520ADC-BEF5-05D7-2248-D80EFDCA2E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864583F6-B1F0-0313-991E-029882A21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4D221D5C-856C-378C-A819-866C15A93B54}"/>
              </a:ext>
            </a:extLst>
          </p:cNvPr>
          <p:cNvSpPr>
            <a:spLocks noGrp="1"/>
          </p:cNvSpPr>
          <p:nvPr>
            <p:ph type="dt" sz="half" idx="10"/>
          </p:nvPr>
        </p:nvSpPr>
        <p:spPr/>
        <p:txBody>
          <a:bodyPr/>
          <a:lstStyle/>
          <a:p>
            <a:fld id="{7B32B428-AB21-474F-A4D9-979B203162CD}" type="datetimeFigureOut">
              <a:rPr lang="en-TW" smtClean="0"/>
              <a:t>2026/6/5</a:t>
            </a:fld>
            <a:endParaRPr lang="en-TW"/>
          </a:p>
        </p:txBody>
      </p:sp>
      <p:sp>
        <p:nvSpPr>
          <p:cNvPr id="5" name="Footer Placeholder 4">
            <a:extLst>
              <a:ext uri="{FF2B5EF4-FFF2-40B4-BE49-F238E27FC236}">
                <a16:creationId xmlns:a16="http://schemas.microsoft.com/office/drawing/2014/main" id="{484E9E2B-8D3D-5C0A-2DE3-178E0F96BC09}"/>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BCA4562B-7771-C1B5-C9C3-EB3825CD6E4C}"/>
              </a:ext>
            </a:extLst>
          </p:cNvPr>
          <p:cNvSpPr>
            <a:spLocks noGrp="1"/>
          </p:cNvSpPr>
          <p:nvPr>
            <p:ph type="sldNum" sz="quarter" idx="12"/>
          </p:nvPr>
        </p:nvSpPr>
        <p:spPr/>
        <p:txBody>
          <a:bodyPr/>
          <a:lstStyle/>
          <a:p>
            <a:fld id="{55F0FA8D-3878-8B4B-B20A-2E34C67220F3}" type="slidenum">
              <a:rPr lang="en-TW" smtClean="0"/>
              <a:t>‹#›</a:t>
            </a:fld>
            <a:endParaRPr lang="en-TW"/>
          </a:p>
        </p:txBody>
      </p:sp>
    </p:spTree>
    <p:extLst>
      <p:ext uri="{BB962C8B-B14F-4D97-AF65-F5344CB8AC3E}">
        <p14:creationId xmlns:p14="http://schemas.microsoft.com/office/powerpoint/2010/main" val="385422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E33406-A20A-398C-90B2-D895F23432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W"/>
          </a:p>
        </p:txBody>
      </p:sp>
      <p:sp>
        <p:nvSpPr>
          <p:cNvPr id="3" name="Text Placeholder 2">
            <a:extLst>
              <a:ext uri="{FF2B5EF4-FFF2-40B4-BE49-F238E27FC236}">
                <a16:creationId xmlns:a16="http://schemas.microsoft.com/office/drawing/2014/main" id="{0316B8D2-85D1-55AC-6AAB-65E7DA8ADE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A19E5821-92AA-0F22-535D-F5A0F520F5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32B428-AB21-474F-A4D9-979B203162CD}" type="datetimeFigureOut">
              <a:rPr lang="en-TW" smtClean="0"/>
              <a:t>2026/6/5</a:t>
            </a:fld>
            <a:endParaRPr lang="en-TW"/>
          </a:p>
        </p:txBody>
      </p:sp>
      <p:sp>
        <p:nvSpPr>
          <p:cNvPr id="5" name="Footer Placeholder 4">
            <a:extLst>
              <a:ext uri="{FF2B5EF4-FFF2-40B4-BE49-F238E27FC236}">
                <a16:creationId xmlns:a16="http://schemas.microsoft.com/office/drawing/2014/main" id="{674D7452-30DA-1F7F-6F5B-83E49CE9AD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W"/>
          </a:p>
        </p:txBody>
      </p:sp>
      <p:sp>
        <p:nvSpPr>
          <p:cNvPr id="6" name="Slide Number Placeholder 5">
            <a:extLst>
              <a:ext uri="{FF2B5EF4-FFF2-40B4-BE49-F238E27FC236}">
                <a16:creationId xmlns:a16="http://schemas.microsoft.com/office/drawing/2014/main" id="{85075E65-E749-774C-B93C-D93354A5AB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F0FA8D-3878-8B4B-B20A-2E34C67220F3}" type="slidenum">
              <a:rPr lang="en-TW" smtClean="0"/>
              <a:t>‹#›</a:t>
            </a:fld>
            <a:endParaRPr lang="en-TW"/>
          </a:p>
        </p:txBody>
      </p:sp>
    </p:spTree>
    <p:extLst>
      <p:ext uri="{BB962C8B-B14F-4D97-AF65-F5344CB8AC3E}">
        <p14:creationId xmlns:p14="http://schemas.microsoft.com/office/powerpoint/2010/main" val="1121170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FDCB-8EB2-51AF-F1C5-B7B3F945C429}"/>
              </a:ext>
            </a:extLst>
          </p:cNvPr>
          <p:cNvSpPr>
            <a:spLocks noGrp="1"/>
          </p:cNvSpPr>
          <p:nvPr>
            <p:ph type="ctrTitle"/>
          </p:nvPr>
        </p:nvSpPr>
        <p:spPr/>
        <p:txBody>
          <a:bodyPr/>
          <a:lstStyle/>
          <a:p>
            <a:r>
              <a:rPr lang="en-TW" dirty="0"/>
              <a:t>Norming results</a:t>
            </a:r>
          </a:p>
        </p:txBody>
      </p:sp>
      <p:sp>
        <p:nvSpPr>
          <p:cNvPr id="3" name="Subtitle 2">
            <a:extLst>
              <a:ext uri="{FF2B5EF4-FFF2-40B4-BE49-F238E27FC236}">
                <a16:creationId xmlns:a16="http://schemas.microsoft.com/office/drawing/2014/main" id="{E3A9A27A-69CF-982C-618E-663E9144B052}"/>
              </a:ext>
            </a:extLst>
          </p:cNvPr>
          <p:cNvSpPr>
            <a:spLocks noGrp="1"/>
          </p:cNvSpPr>
          <p:nvPr>
            <p:ph type="subTitle" idx="1"/>
          </p:nvPr>
        </p:nvSpPr>
        <p:spPr/>
        <p:txBody>
          <a:bodyPr/>
          <a:lstStyle/>
          <a:p>
            <a:r>
              <a:rPr lang="en-TW" dirty="0"/>
              <a:t>Apr 14, 2026</a:t>
            </a:r>
          </a:p>
        </p:txBody>
      </p:sp>
    </p:spTree>
    <p:extLst>
      <p:ext uri="{BB962C8B-B14F-4D97-AF65-F5344CB8AC3E}">
        <p14:creationId xmlns:p14="http://schemas.microsoft.com/office/powerpoint/2010/main" val="128601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7E429-205D-560C-D265-E5EC1CCC3D72}"/>
              </a:ext>
            </a:extLst>
          </p:cNvPr>
          <p:cNvSpPr>
            <a:spLocks noGrp="1"/>
          </p:cNvSpPr>
          <p:nvPr>
            <p:ph type="title"/>
          </p:nvPr>
        </p:nvSpPr>
        <p:spPr>
          <a:xfrm>
            <a:off x="838200" y="2666827"/>
            <a:ext cx="10515600" cy="1325563"/>
          </a:xfrm>
        </p:spPr>
        <p:txBody>
          <a:bodyPr/>
          <a:lstStyle/>
          <a:p>
            <a:pPr algn="ctr"/>
            <a:r>
              <a:rPr lang="en-TW" dirty="0"/>
              <a:t>Our study (VOT tokens generated from a </a:t>
            </a:r>
            <a:r>
              <a:rPr lang="en-TW" b="1" dirty="0"/>
              <a:t>Spanish speaker</a:t>
            </a:r>
            <a:r>
              <a:rPr lang="en-TW" dirty="0"/>
              <a:t>’s recordings)</a:t>
            </a:r>
          </a:p>
        </p:txBody>
      </p:sp>
    </p:spTree>
    <p:extLst>
      <p:ext uri="{BB962C8B-B14F-4D97-AF65-F5344CB8AC3E}">
        <p14:creationId xmlns:p14="http://schemas.microsoft.com/office/powerpoint/2010/main" val="352712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7E429-205D-560C-D265-E5EC1CCC3D72}"/>
              </a:ext>
            </a:extLst>
          </p:cNvPr>
          <p:cNvSpPr>
            <a:spLocks noGrp="1"/>
          </p:cNvSpPr>
          <p:nvPr>
            <p:ph type="title"/>
          </p:nvPr>
        </p:nvSpPr>
        <p:spPr/>
        <p:txBody>
          <a:bodyPr/>
          <a:lstStyle/>
          <a:p>
            <a:r>
              <a:rPr lang="en-TW" dirty="0"/>
              <a:t>Norming experiment</a:t>
            </a:r>
          </a:p>
        </p:txBody>
      </p:sp>
      <p:sp>
        <p:nvSpPr>
          <p:cNvPr id="3" name="Content Placeholder 2">
            <a:extLst>
              <a:ext uri="{FF2B5EF4-FFF2-40B4-BE49-F238E27FC236}">
                <a16:creationId xmlns:a16="http://schemas.microsoft.com/office/drawing/2014/main" id="{66A7A44E-3407-82CD-3320-1D7C4E8052F1}"/>
              </a:ext>
            </a:extLst>
          </p:cNvPr>
          <p:cNvSpPr>
            <a:spLocks noGrp="1"/>
          </p:cNvSpPr>
          <p:nvPr>
            <p:ph idx="1"/>
          </p:nvPr>
        </p:nvSpPr>
        <p:spPr/>
        <p:txBody>
          <a:bodyPr/>
          <a:lstStyle/>
          <a:p>
            <a:r>
              <a:rPr lang="en-TW" dirty="0"/>
              <a:t>N=30 (two excluded due to lack of engagament, one excluded due to overall flat categorization curve) </a:t>
            </a:r>
            <a:r>
              <a:rPr lang="en-TW" dirty="0">
                <a:sym typeface="Wingdings" pitchFamily="2" charset="2"/>
              </a:rPr>
              <a:t> leaving N=27</a:t>
            </a:r>
          </a:p>
          <a:p>
            <a:r>
              <a:rPr lang="en-TW" dirty="0">
                <a:sym typeface="Wingdings" pitchFamily="2" charset="2"/>
              </a:rPr>
              <a:t>Stimuli: 23-step VOT continua for dill/till, din/tin, dip/tip</a:t>
            </a:r>
            <a:br>
              <a:rPr lang="en-TW" dirty="0">
                <a:sym typeface="Wingdings" pitchFamily="2" charset="2"/>
              </a:rPr>
            </a:br>
            <a:r>
              <a:rPr lang="en-TW" sz="1800" baseline="30000" dirty="0">
                <a:sym typeface="Wingdings" pitchFamily="2" charset="2"/>
              </a:rPr>
              <a:t>*</a:t>
            </a:r>
            <a:r>
              <a:rPr lang="en-TW" sz="1800" dirty="0">
                <a:sym typeface="Wingdings" pitchFamily="2" charset="2"/>
              </a:rPr>
              <a:t>VOT steps -100, -50, -20, -10, 0, 5, 10, 15, 20, 25, 30, 35, 40, 45, 50, 55, 60, 65, 70, 80, 90, 100, 120</a:t>
            </a:r>
          </a:p>
          <a:p>
            <a:r>
              <a:rPr lang="en-TW" dirty="0">
                <a:sym typeface="Wingdings" pitchFamily="2" charset="2"/>
              </a:rPr>
              <a:t>Design: 3 word x 23 step x 4 repetition + 12 catch trials = 288 trials</a:t>
            </a:r>
          </a:p>
          <a:p>
            <a:endParaRPr lang="en-TW" dirty="0"/>
          </a:p>
          <a:p>
            <a:pPr marL="0" indent="0">
              <a:buNone/>
            </a:pPr>
            <a:endParaRPr lang="en-TW" dirty="0"/>
          </a:p>
        </p:txBody>
      </p:sp>
    </p:spTree>
    <p:extLst>
      <p:ext uri="{BB962C8B-B14F-4D97-AF65-F5344CB8AC3E}">
        <p14:creationId xmlns:p14="http://schemas.microsoft.com/office/powerpoint/2010/main" val="3593392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0" y="28632"/>
            <a:ext cx="10515600" cy="1325563"/>
          </a:xfrm>
        </p:spPr>
        <p:txBody>
          <a:bodyPr/>
          <a:lstStyle/>
          <a:p>
            <a:r>
              <a:rPr lang="en-TW" dirty="0"/>
              <a:t>Group-level results</a:t>
            </a:r>
          </a:p>
        </p:txBody>
      </p:sp>
      <p:pic>
        <p:nvPicPr>
          <p:cNvPr id="5" name="Content Placeholder 4">
            <a:extLst>
              <a:ext uri="{FF2B5EF4-FFF2-40B4-BE49-F238E27FC236}">
                <a16:creationId xmlns:a16="http://schemas.microsoft.com/office/drawing/2014/main" id="{471AD2B6-9F45-C451-FFCA-8682CF31789D}"/>
              </a:ext>
            </a:extLst>
          </p:cNvPr>
          <p:cNvPicPr>
            <a:picLocks noGrp="1" noChangeAspect="1"/>
          </p:cNvPicPr>
          <p:nvPr>
            <p:ph idx="1"/>
          </p:nvPr>
        </p:nvPicPr>
        <p:blipFill>
          <a:blip r:embed="rId2"/>
          <a:stretch>
            <a:fillRect/>
          </a:stretch>
        </p:blipFill>
        <p:spPr>
          <a:xfrm>
            <a:off x="1552077" y="1306067"/>
            <a:ext cx="8783052" cy="5098209"/>
          </a:xfrm>
        </p:spPr>
      </p:pic>
    </p:spTree>
    <p:extLst>
      <p:ext uri="{BB962C8B-B14F-4D97-AF65-F5344CB8AC3E}">
        <p14:creationId xmlns:p14="http://schemas.microsoft.com/office/powerpoint/2010/main" val="99831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1AD2B6-9F45-C451-FFCA-8682CF31789D}"/>
              </a:ext>
            </a:extLst>
          </p:cNvPr>
          <p:cNvPicPr>
            <a:picLocks noGrp="1" noChangeAspect="1"/>
          </p:cNvPicPr>
          <p:nvPr>
            <p:ph idx="1"/>
          </p:nvPr>
        </p:nvPicPr>
        <p:blipFill>
          <a:blip r:embed="rId2">
            <a:alphaModFix amt="35000"/>
          </a:blip>
          <a:stretch>
            <a:fillRect/>
          </a:stretch>
        </p:blipFill>
        <p:spPr>
          <a:xfrm>
            <a:off x="1552077" y="1306067"/>
            <a:ext cx="8783052" cy="5098209"/>
          </a:xfrm>
        </p:spPr>
      </p:pic>
      <p:cxnSp>
        <p:nvCxnSpPr>
          <p:cNvPr id="7" name="Straight Connector 6">
            <a:extLst>
              <a:ext uri="{FF2B5EF4-FFF2-40B4-BE49-F238E27FC236}">
                <a16:creationId xmlns:a16="http://schemas.microsoft.com/office/drawing/2014/main" id="{A5B40FC0-62D4-BF43-3CDE-11A2C5ABDFCD}"/>
              </a:ext>
            </a:extLst>
          </p:cNvPr>
          <p:cNvCxnSpPr>
            <a:cxnSpLocks/>
          </p:cNvCxnSpPr>
          <p:nvPr/>
        </p:nvCxnSpPr>
        <p:spPr>
          <a:xfrm>
            <a:off x="6544017" y="1386279"/>
            <a:ext cx="0" cy="4421397"/>
          </a:xfrm>
          <a:prstGeom prst="line">
            <a:avLst/>
          </a:prstGeom>
          <a:ln w="3810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AFC27ED-6170-3432-7EFE-0716761AA3CD}"/>
              </a:ext>
            </a:extLst>
          </p:cNvPr>
          <p:cNvCxnSpPr>
            <a:cxnSpLocks/>
          </p:cNvCxnSpPr>
          <p:nvPr/>
        </p:nvCxnSpPr>
        <p:spPr>
          <a:xfrm>
            <a:off x="6888922" y="1386279"/>
            <a:ext cx="0" cy="4421397"/>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9B33F03-DF9B-2E14-6161-D49FEB43557B}"/>
              </a:ext>
            </a:extLst>
          </p:cNvPr>
          <p:cNvCxnSpPr>
            <a:cxnSpLocks/>
          </p:cNvCxnSpPr>
          <p:nvPr/>
        </p:nvCxnSpPr>
        <p:spPr>
          <a:xfrm>
            <a:off x="6993196" y="1386279"/>
            <a:ext cx="0" cy="4421397"/>
          </a:xfrm>
          <a:prstGeom prst="line">
            <a:avLst/>
          </a:prstGeom>
          <a:ln w="38100">
            <a:solidFill>
              <a:srgbClr val="FF7E79"/>
            </a:solidFill>
            <a:prstDash val="dash"/>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95235A-88C6-9519-F233-3406714AA116}"/>
              </a:ext>
            </a:extLst>
          </p:cNvPr>
          <p:cNvSpPr txBox="1"/>
          <p:nvPr/>
        </p:nvSpPr>
        <p:spPr>
          <a:xfrm>
            <a:off x="6877047" y="968741"/>
            <a:ext cx="1372943" cy="369332"/>
          </a:xfrm>
          <a:prstGeom prst="rect">
            <a:avLst/>
          </a:prstGeom>
          <a:noFill/>
        </p:spPr>
        <p:txBody>
          <a:bodyPr wrap="square" rtlCol="0">
            <a:spAutoFit/>
          </a:bodyPr>
          <a:lstStyle/>
          <a:p>
            <a:r>
              <a:rPr lang="en-US" b="1" dirty="0">
                <a:solidFill>
                  <a:srgbClr val="FF7E79"/>
                </a:solidFill>
              </a:rPr>
              <a:t>d</a:t>
            </a:r>
            <a:r>
              <a:rPr lang="en-TW" b="1" dirty="0">
                <a:solidFill>
                  <a:srgbClr val="FF7E79"/>
                </a:solidFill>
              </a:rPr>
              <a:t>ill: 49.8ms</a:t>
            </a:r>
          </a:p>
        </p:txBody>
      </p:sp>
      <p:sp>
        <p:nvSpPr>
          <p:cNvPr id="4" name="TextBox 3">
            <a:extLst>
              <a:ext uri="{FF2B5EF4-FFF2-40B4-BE49-F238E27FC236}">
                <a16:creationId xmlns:a16="http://schemas.microsoft.com/office/drawing/2014/main" id="{E17E46A9-879A-856A-0CBD-7D6835139F64}"/>
              </a:ext>
            </a:extLst>
          </p:cNvPr>
          <p:cNvSpPr txBox="1"/>
          <p:nvPr/>
        </p:nvSpPr>
        <p:spPr>
          <a:xfrm>
            <a:off x="6756315" y="724099"/>
            <a:ext cx="1493673" cy="369332"/>
          </a:xfrm>
          <a:prstGeom prst="rect">
            <a:avLst/>
          </a:prstGeom>
          <a:noFill/>
        </p:spPr>
        <p:txBody>
          <a:bodyPr wrap="square" rtlCol="0">
            <a:spAutoFit/>
          </a:bodyPr>
          <a:lstStyle/>
          <a:p>
            <a:r>
              <a:rPr lang="en-US" b="1" dirty="0">
                <a:solidFill>
                  <a:srgbClr val="00B0F0"/>
                </a:solidFill>
              </a:rPr>
              <a:t>d</a:t>
            </a:r>
            <a:r>
              <a:rPr lang="en-TW" b="1" dirty="0">
                <a:solidFill>
                  <a:srgbClr val="00B0F0"/>
                </a:solidFill>
              </a:rPr>
              <a:t>ip: 46.55ms</a:t>
            </a:r>
          </a:p>
        </p:txBody>
      </p:sp>
      <p:sp>
        <p:nvSpPr>
          <p:cNvPr id="6" name="TextBox 5">
            <a:extLst>
              <a:ext uri="{FF2B5EF4-FFF2-40B4-BE49-F238E27FC236}">
                <a16:creationId xmlns:a16="http://schemas.microsoft.com/office/drawing/2014/main" id="{8CCC9E65-721C-3C1F-B60A-A61C93C3881A}"/>
              </a:ext>
            </a:extLst>
          </p:cNvPr>
          <p:cNvSpPr txBox="1"/>
          <p:nvPr/>
        </p:nvSpPr>
        <p:spPr>
          <a:xfrm>
            <a:off x="5291205" y="984863"/>
            <a:ext cx="1481800" cy="369332"/>
          </a:xfrm>
          <a:prstGeom prst="rect">
            <a:avLst/>
          </a:prstGeom>
          <a:noFill/>
        </p:spPr>
        <p:txBody>
          <a:bodyPr wrap="square" rtlCol="0">
            <a:spAutoFit/>
          </a:bodyPr>
          <a:lstStyle/>
          <a:p>
            <a:r>
              <a:rPr lang="en-US" b="1" dirty="0">
                <a:solidFill>
                  <a:schemeClr val="accent6"/>
                </a:solidFill>
              </a:rPr>
              <a:t>d</a:t>
            </a:r>
            <a:r>
              <a:rPr lang="en-TW" b="1" dirty="0">
                <a:solidFill>
                  <a:schemeClr val="accent6"/>
                </a:solidFill>
              </a:rPr>
              <a:t>in: 34.58ms</a:t>
            </a:r>
          </a:p>
        </p:txBody>
      </p:sp>
      <p:sp>
        <p:nvSpPr>
          <p:cNvPr id="16" name="Title 1">
            <a:extLst>
              <a:ext uri="{FF2B5EF4-FFF2-40B4-BE49-F238E27FC236}">
                <a16:creationId xmlns:a16="http://schemas.microsoft.com/office/drawing/2014/main" id="{1A568777-7CAC-EFC2-423E-7CD9ED53ACC3}"/>
              </a:ext>
            </a:extLst>
          </p:cNvPr>
          <p:cNvSpPr>
            <a:spLocks noGrp="1"/>
          </p:cNvSpPr>
          <p:nvPr>
            <p:ph type="title"/>
          </p:nvPr>
        </p:nvSpPr>
        <p:spPr>
          <a:xfrm>
            <a:off x="0" y="28632"/>
            <a:ext cx="10515600" cy="1325563"/>
          </a:xfrm>
        </p:spPr>
        <p:txBody>
          <a:bodyPr/>
          <a:lstStyle/>
          <a:p>
            <a:r>
              <a:rPr lang="en-TW" dirty="0"/>
              <a:t>Group-level results</a:t>
            </a:r>
          </a:p>
        </p:txBody>
      </p:sp>
    </p:spTree>
    <p:extLst>
      <p:ext uri="{BB962C8B-B14F-4D97-AF65-F5344CB8AC3E}">
        <p14:creationId xmlns:p14="http://schemas.microsoft.com/office/powerpoint/2010/main" val="3696556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2032" y="4568"/>
            <a:ext cx="10515600" cy="1325563"/>
          </a:xfrm>
        </p:spPr>
        <p:txBody>
          <a:bodyPr>
            <a:normAutofit/>
          </a:bodyPr>
          <a:lstStyle/>
          <a:p>
            <a:r>
              <a:rPr lang="en-TW" sz="3200" dirty="0"/>
              <a:t>Zoom into each w</a:t>
            </a:r>
            <a:r>
              <a:rPr lang="en-US" sz="3200" dirty="0"/>
              <a:t>or</a:t>
            </a:r>
            <a:r>
              <a:rPr lang="en-TW" sz="3200" dirty="0"/>
              <a:t>d with individual categorization curves</a:t>
            </a:r>
          </a:p>
        </p:txBody>
      </p:sp>
      <p:pic>
        <p:nvPicPr>
          <p:cNvPr id="7" name="Content Placeholder 6">
            <a:extLst>
              <a:ext uri="{FF2B5EF4-FFF2-40B4-BE49-F238E27FC236}">
                <a16:creationId xmlns:a16="http://schemas.microsoft.com/office/drawing/2014/main" id="{956D9741-737F-A6B4-A976-F6DEE0F53A02}"/>
              </a:ext>
            </a:extLst>
          </p:cNvPr>
          <p:cNvPicPr>
            <a:picLocks noGrp="1" noChangeAspect="1"/>
          </p:cNvPicPr>
          <p:nvPr>
            <p:ph idx="1"/>
          </p:nvPr>
        </p:nvPicPr>
        <p:blipFill rotWithShape="1">
          <a:blip r:embed="rId2"/>
          <a:srcRect b="11457"/>
          <a:stretch/>
        </p:blipFill>
        <p:spPr>
          <a:xfrm>
            <a:off x="706233" y="982274"/>
            <a:ext cx="10564612" cy="5607212"/>
          </a:xfrm>
        </p:spPr>
      </p:pic>
    </p:spTree>
    <p:extLst>
      <p:ext uri="{BB962C8B-B14F-4D97-AF65-F5344CB8AC3E}">
        <p14:creationId xmlns:p14="http://schemas.microsoft.com/office/powerpoint/2010/main" val="389716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7E429-205D-560C-D265-E5EC1CCC3D72}"/>
              </a:ext>
            </a:extLst>
          </p:cNvPr>
          <p:cNvSpPr>
            <a:spLocks noGrp="1"/>
          </p:cNvSpPr>
          <p:nvPr>
            <p:ph type="title"/>
          </p:nvPr>
        </p:nvSpPr>
        <p:spPr>
          <a:xfrm>
            <a:off x="838200" y="2666827"/>
            <a:ext cx="10515600" cy="1325563"/>
          </a:xfrm>
        </p:spPr>
        <p:txBody>
          <a:bodyPr/>
          <a:lstStyle/>
          <a:p>
            <a:pPr algn="ctr"/>
            <a:r>
              <a:rPr lang="en-TW" dirty="0"/>
              <a:t>Tan &amp; Jaeger (2025) (VOT tokens generated from a </a:t>
            </a:r>
            <a:r>
              <a:rPr lang="en-TW" b="1" dirty="0"/>
              <a:t>native English speaker</a:t>
            </a:r>
            <a:r>
              <a:rPr lang="en-TW" dirty="0"/>
              <a:t>’s recordings)</a:t>
            </a:r>
          </a:p>
        </p:txBody>
      </p:sp>
    </p:spTree>
    <p:extLst>
      <p:ext uri="{BB962C8B-B14F-4D97-AF65-F5344CB8AC3E}">
        <p14:creationId xmlns:p14="http://schemas.microsoft.com/office/powerpoint/2010/main" val="60076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33297" y="-37962"/>
            <a:ext cx="10515600" cy="1325563"/>
          </a:xfrm>
        </p:spPr>
        <p:txBody>
          <a:bodyPr>
            <a:normAutofit/>
          </a:bodyPr>
          <a:lstStyle/>
          <a:p>
            <a:r>
              <a:rPr lang="en-US" sz="3200" dirty="0"/>
              <a:t>Norming data from Tan &amp; Jaeger (2025)</a:t>
            </a:r>
            <a:endParaRPr lang="en-TW" sz="3200" dirty="0"/>
          </a:p>
        </p:txBody>
      </p:sp>
      <p:pic>
        <p:nvPicPr>
          <p:cNvPr id="11" name="Picture 10">
            <a:extLst>
              <a:ext uri="{FF2B5EF4-FFF2-40B4-BE49-F238E27FC236}">
                <a16:creationId xmlns:a16="http://schemas.microsoft.com/office/drawing/2014/main" id="{19D26D70-F6FE-1A78-210F-404FC117EF13}"/>
              </a:ext>
            </a:extLst>
          </p:cNvPr>
          <p:cNvPicPr>
            <a:picLocks noChangeAspect="1"/>
          </p:cNvPicPr>
          <p:nvPr/>
        </p:nvPicPr>
        <p:blipFill>
          <a:blip r:embed="rId2"/>
          <a:stretch>
            <a:fillRect/>
          </a:stretch>
        </p:blipFill>
        <p:spPr>
          <a:xfrm>
            <a:off x="1178234" y="944040"/>
            <a:ext cx="9835532" cy="5792306"/>
          </a:xfrm>
          <a:prstGeom prst="rect">
            <a:avLst/>
          </a:prstGeom>
        </p:spPr>
      </p:pic>
      <p:sp>
        <p:nvSpPr>
          <p:cNvPr id="12" name="Rectangle 11">
            <a:extLst>
              <a:ext uri="{FF2B5EF4-FFF2-40B4-BE49-F238E27FC236}">
                <a16:creationId xmlns:a16="http://schemas.microsoft.com/office/drawing/2014/main" id="{65779AD0-38A5-175C-8F59-C3389B2CC02B}"/>
              </a:ext>
            </a:extLst>
          </p:cNvPr>
          <p:cNvSpPr/>
          <p:nvPr/>
        </p:nvSpPr>
        <p:spPr>
          <a:xfrm>
            <a:off x="9088580" y="4281055"/>
            <a:ext cx="1869766" cy="120534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4" name="TextBox 13">
            <a:extLst>
              <a:ext uri="{FF2B5EF4-FFF2-40B4-BE49-F238E27FC236}">
                <a16:creationId xmlns:a16="http://schemas.microsoft.com/office/drawing/2014/main" id="{269E81A4-4035-4229-E743-73E5FFD2CDE0}"/>
              </a:ext>
            </a:extLst>
          </p:cNvPr>
          <p:cNvSpPr txBox="1"/>
          <p:nvPr/>
        </p:nvSpPr>
        <p:spPr>
          <a:xfrm>
            <a:off x="10022391" y="5486400"/>
            <a:ext cx="1198120" cy="369332"/>
          </a:xfrm>
          <a:prstGeom prst="rect">
            <a:avLst/>
          </a:prstGeom>
          <a:noFill/>
        </p:spPr>
        <p:txBody>
          <a:bodyPr wrap="square">
            <a:spAutoFit/>
          </a:bodyPr>
          <a:lstStyle/>
          <a:p>
            <a:pPr algn="ctr"/>
            <a:r>
              <a:rPr lang="en-US" dirty="0">
                <a:solidFill>
                  <a:srgbClr val="C00000"/>
                </a:solidFill>
              </a:rPr>
              <a:t>e</a:t>
            </a:r>
            <a:r>
              <a:rPr lang="en-US" sz="1800" dirty="0">
                <a:solidFill>
                  <a:srgbClr val="C00000"/>
                </a:solidFill>
              </a:rPr>
              <a:t>xclude</a:t>
            </a:r>
            <a:endParaRPr lang="en-TW" dirty="0">
              <a:solidFill>
                <a:srgbClr val="C00000"/>
              </a:solidFill>
            </a:endParaRPr>
          </a:p>
        </p:txBody>
      </p:sp>
    </p:spTree>
    <p:extLst>
      <p:ext uri="{BB962C8B-B14F-4D97-AF65-F5344CB8AC3E}">
        <p14:creationId xmlns:p14="http://schemas.microsoft.com/office/powerpoint/2010/main" val="1437043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33297" y="-37962"/>
            <a:ext cx="10515600" cy="1325563"/>
          </a:xfrm>
        </p:spPr>
        <p:txBody>
          <a:bodyPr>
            <a:normAutofit/>
          </a:bodyPr>
          <a:lstStyle/>
          <a:p>
            <a:r>
              <a:rPr lang="en-US" sz="3200" dirty="0"/>
              <a:t>Norming data from Tan &amp; Jaeger (2025)</a:t>
            </a:r>
            <a:endParaRPr lang="en-TW" sz="3200" dirty="0"/>
          </a:p>
        </p:txBody>
      </p:sp>
      <p:pic>
        <p:nvPicPr>
          <p:cNvPr id="9" name="Picture 8">
            <a:extLst>
              <a:ext uri="{FF2B5EF4-FFF2-40B4-BE49-F238E27FC236}">
                <a16:creationId xmlns:a16="http://schemas.microsoft.com/office/drawing/2014/main" id="{FF91F5D2-59AB-0390-87D4-A03929BF5A39}"/>
              </a:ext>
            </a:extLst>
          </p:cNvPr>
          <p:cNvPicPr>
            <a:picLocks noChangeAspect="1"/>
          </p:cNvPicPr>
          <p:nvPr/>
        </p:nvPicPr>
        <p:blipFill>
          <a:blip r:embed="rId2"/>
          <a:srcRect/>
          <a:stretch/>
        </p:blipFill>
        <p:spPr>
          <a:xfrm>
            <a:off x="1303943" y="1052092"/>
            <a:ext cx="9572134" cy="5572250"/>
          </a:xfrm>
          <a:prstGeom prst="rect">
            <a:avLst/>
          </a:prstGeom>
        </p:spPr>
      </p:pic>
    </p:spTree>
    <p:extLst>
      <p:ext uri="{BB962C8B-B14F-4D97-AF65-F5344CB8AC3E}">
        <p14:creationId xmlns:p14="http://schemas.microsoft.com/office/powerpoint/2010/main" val="236837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33297" y="-37962"/>
            <a:ext cx="10515600" cy="1325563"/>
          </a:xfrm>
        </p:spPr>
        <p:txBody>
          <a:bodyPr>
            <a:normAutofit/>
          </a:bodyPr>
          <a:lstStyle/>
          <a:p>
            <a:r>
              <a:rPr lang="en-US" sz="3200" dirty="0"/>
              <a:t>Norming data from Tan &amp; Jaeger (2025)</a:t>
            </a:r>
            <a:endParaRPr lang="en-TW" sz="3200" dirty="0"/>
          </a:p>
        </p:txBody>
      </p:sp>
      <p:pic>
        <p:nvPicPr>
          <p:cNvPr id="9" name="Picture 8">
            <a:extLst>
              <a:ext uri="{FF2B5EF4-FFF2-40B4-BE49-F238E27FC236}">
                <a16:creationId xmlns:a16="http://schemas.microsoft.com/office/drawing/2014/main" id="{FF91F5D2-59AB-0390-87D4-A03929BF5A39}"/>
              </a:ext>
            </a:extLst>
          </p:cNvPr>
          <p:cNvPicPr>
            <a:picLocks noChangeAspect="1"/>
          </p:cNvPicPr>
          <p:nvPr/>
        </p:nvPicPr>
        <p:blipFill>
          <a:blip r:embed="rId2">
            <a:alphaModFix amt="35000"/>
          </a:blip>
          <a:srcRect/>
          <a:stretch/>
        </p:blipFill>
        <p:spPr>
          <a:xfrm>
            <a:off x="1303943" y="1052092"/>
            <a:ext cx="9572134" cy="5572250"/>
          </a:xfrm>
          <a:prstGeom prst="rect">
            <a:avLst/>
          </a:prstGeom>
        </p:spPr>
      </p:pic>
      <p:cxnSp>
        <p:nvCxnSpPr>
          <p:cNvPr id="3" name="Straight Connector 2">
            <a:extLst>
              <a:ext uri="{FF2B5EF4-FFF2-40B4-BE49-F238E27FC236}">
                <a16:creationId xmlns:a16="http://schemas.microsoft.com/office/drawing/2014/main" id="{8FB274E3-FCDB-CA18-3B2A-3C499EF04765}"/>
              </a:ext>
            </a:extLst>
          </p:cNvPr>
          <p:cNvCxnSpPr>
            <a:cxnSpLocks/>
          </p:cNvCxnSpPr>
          <p:nvPr/>
        </p:nvCxnSpPr>
        <p:spPr>
          <a:xfrm>
            <a:off x="6413228" y="1386717"/>
            <a:ext cx="0" cy="4428767"/>
          </a:xfrm>
          <a:prstGeom prst="line">
            <a:avLst/>
          </a:prstGeom>
          <a:ln w="38100">
            <a:solidFill>
              <a:srgbClr val="D883FF"/>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2AF41B48-3424-A6B3-7E50-9593BC075DA4}"/>
              </a:ext>
            </a:extLst>
          </p:cNvPr>
          <p:cNvCxnSpPr>
            <a:cxnSpLocks/>
          </p:cNvCxnSpPr>
          <p:nvPr/>
        </p:nvCxnSpPr>
        <p:spPr>
          <a:xfrm>
            <a:off x="5814068" y="1386516"/>
            <a:ext cx="0" cy="4530364"/>
          </a:xfrm>
          <a:prstGeom prst="line">
            <a:avLst/>
          </a:prstGeom>
          <a:ln w="3810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749E3E8-249C-B2CD-3450-9790D2F704ED}"/>
              </a:ext>
            </a:extLst>
          </p:cNvPr>
          <p:cNvCxnSpPr>
            <a:cxnSpLocks/>
          </p:cNvCxnSpPr>
          <p:nvPr/>
        </p:nvCxnSpPr>
        <p:spPr>
          <a:xfrm>
            <a:off x="6152121" y="1386338"/>
            <a:ext cx="0" cy="4530542"/>
          </a:xfrm>
          <a:prstGeom prst="line">
            <a:avLst/>
          </a:prstGeom>
          <a:ln w="38100">
            <a:solidFill>
              <a:srgbClr val="FF7E79"/>
            </a:solidFill>
            <a:prstDash val="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D39332-8883-2F9F-4AB7-0DA8136D6003}"/>
              </a:ext>
            </a:extLst>
          </p:cNvPr>
          <p:cNvSpPr txBox="1"/>
          <p:nvPr/>
        </p:nvSpPr>
        <p:spPr>
          <a:xfrm>
            <a:off x="6028686" y="994254"/>
            <a:ext cx="1493669" cy="369332"/>
          </a:xfrm>
          <a:prstGeom prst="rect">
            <a:avLst/>
          </a:prstGeom>
          <a:noFill/>
        </p:spPr>
        <p:txBody>
          <a:bodyPr wrap="square" rtlCol="0">
            <a:spAutoFit/>
          </a:bodyPr>
          <a:lstStyle/>
          <a:p>
            <a:r>
              <a:rPr lang="en-US" b="1" dirty="0">
                <a:solidFill>
                  <a:srgbClr val="FF7E79"/>
                </a:solidFill>
              </a:rPr>
              <a:t>d</a:t>
            </a:r>
            <a:r>
              <a:rPr lang="en-TW" b="1" dirty="0">
                <a:solidFill>
                  <a:srgbClr val="FF7E79"/>
                </a:solidFill>
              </a:rPr>
              <a:t>ill: 27.49ms</a:t>
            </a:r>
          </a:p>
        </p:txBody>
      </p:sp>
      <p:sp>
        <p:nvSpPr>
          <p:cNvPr id="7" name="TextBox 6">
            <a:extLst>
              <a:ext uri="{FF2B5EF4-FFF2-40B4-BE49-F238E27FC236}">
                <a16:creationId xmlns:a16="http://schemas.microsoft.com/office/drawing/2014/main" id="{611576C9-746E-F5A8-4EEB-3D065AF84D00}"/>
              </a:ext>
            </a:extLst>
          </p:cNvPr>
          <p:cNvSpPr txBox="1"/>
          <p:nvPr/>
        </p:nvSpPr>
        <p:spPr>
          <a:xfrm>
            <a:off x="4628470" y="1009032"/>
            <a:ext cx="1493673" cy="369332"/>
          </a:xfrm>
          <a:prstGeom prst="rect">
            <a:avLst/>
          </a:prstGeom>
          <a:noFill/>
        </p:spPr>
        <p:txBody>
          <a:bodyPr wrap="square" rtlCol="0">
            <a:spAutoFit/>
          </a:bodyPr>
          <a:lstStyle/>
          <a:p>
            <a:r>
              <a:rPr lang="en-US" b="1" dirty="0">
                <a:solidFill>
                  <a:schemeClr val="accent6"/>
                </a:solidFill>
              </a:rPr>
              <a:t>d</a:t>
            </a:r>
            <a:r>
              <a:rPr lang="en-TW" b="1" dirty="0">
                <a:solidFill>
                  <a:schemeClr val="accent6"/>
                </a:solidFill>
              </a:rPr>
              <a:t>in: 16.38ms</a:t>
            </a:r>
          </a:p>
        </p:txBody>
      </p:sp>
      <p:sp>
        <p:nvSpPr>
          <p:cNvPr id="8" name="TextBox 7">
            <a:extLst>
              <a:ext uri="{FF2B5EF4-FFF2-40B4-BE49-F238E27FC236}">
                <a16:creationId xmlns:a16="http://schemas.microsoft.com/office/drawing/2014/main" id="{EFC84AFC-CF84-E7BF-1040-DCB84820F26B}"/>
              </a:ext>
            </a:extLst>
          </p:cNvPr>
          <p:cNvSpPr txBox="1"/>
          <p:nvPr/>
        </p:nvSpPr>
        <p:spPr>
          <a:xfrm>
            <a:off x="6282917" y="768956"/>
            <a:ext cx="5602559" cy="369332"/>
          </a:xfrm>
          <a:prstGeom prst="rect">
            <a:avLst/>
          </a:prstGeom>
          <a:noFill/>
        </p:spPr>
        <p:txBody>
          <a:bodyPr wrap="square" rtlCol="0">
            <a:spAutoFit/>
          </a:bodyPr>
          <a:lstStyle/>
          <a:p>
            <a:r>
              <a:rPr lang="en-US" b="1" dirty="0">
                <a:solidFill>
                  <a:srgbClr val="D883FF"/>
                </a:solidFill>
              </a:rPr>
              <a:t>d</a:t>
            </a:r>
            <a:r>
              <a:rPr lang="en-TW" b="1" dirty="0">
                <a:solidFill>
                  <a:srgbClr val="D883FF"/>
                </a:solidFill>
              </a:rPr>
              <a:t>im: 36.13ms </a:t>
            </a:r>
            <a:r>
              <a:rPr lang="en-TW" dirty="0">
                <a:solidFill>
                  <a:schemeClr val="bg1">
                    <a:lumMod val="50000"/>
                  </a:schemeClr>
                </a:solidFill>
              </a:rPr>
              <a:t>(*EXCLUDED from main experiment)</a:t>
            </a:r>
          </a:p>
        </p:txBody>
      </p:sp>
      <p:cxnSp>
        <p:nvCxnSpPr>
          <p:cNvPr id="10" name="Straight Connector 9">
            <a:extLst>
              <a:ext uri="{FF2B5EF4-FFF2-40B4-BE49-F238E27FC236}">
                <a16:creationId xmlns:a16="http://schemas.microsoft.com/office/drawing/2014/main" id="{F06AAC5F-FC25-F2E9-9EFC-449AACC7BBC9}"/>
              </a:ext>
            </a:extLst>
          </p:cNvPr>
          <p:cNvCxnSpPr>
            <a:cxnSpLocks/>
          </p:cNvCxnSpPr>
          <p:nvPr/>
        </p:nvCxnSpPr>
        <p:spPr>
          <a:xfrm>
            <a:off x="6006219" y="1386024"/>
            <a:ext cx="4196" cy="4429460"/>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E1715D1-0890-569A-93C5-5910CC7549E3}"/>
              </a:ext>
            </a:extLst>
          </p:cNvPr>
          <p:cNvSpPr txBox="1"/>
          <p:nvPr/>
        </p:nvSpPr>
        <p:spPr>
          <a:xfrm>
            <a:off x="4799878" y="774828"/>
            <a:ext cx="1438372" cy="369332"/>
          </a:xfrm>
          <a:prstGeom prst="rect">
            <a:avLst/>
          </a:prstGeom>
          <a:noFill/>
        </p:spPr>
        <p:txBody>
          <a:bodyPr wrap="square" rtlCol="0">
            <a:spAutoFit/>
          </a:bodyPr>
          <a:lstStyle/>
          <a:p>
            <a:r>
              <a:rPr lang="en-US" b="1" dirty="0">
                <a:solidFill>
                  <a:srgbClr val="00B0F0"/>
                </a:solidFill>
              </a:rPr>
              <a:t>d</a:t>
            </a:r>
            <a:r>
              <a:rPr lang="en-TW" b="1" dirty="0">
                <a:solidFill>
                  <a:srgbClr val="00B0F0"/>
                </a:solidFill>
              </a:rPr>
              <a:t>ip: 22.97ms</a:t>
            </a:r>
          </a:p>
        </p:txBody>
      </p:sp>
    </p:spTree>
    <p:extLst>
      <p:ext uri="{BB962C8B-B14F-4D97-AF65-F5344CB8AC3E}">
        <p14:creationId xmlns:p14="http://schemas.microsoft.com/office/powerpoint/2010/main" val="116293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33297" y="-37962"/>
            <a:ext cx="10515600" cy="1325563"/>
          </a:xfrm>
        </p:spPr>
        <p:txBody>
          <a:bodyPr>
            <a:normAutofit/>
          </a:bodyPr>
          <a:lstStyle/>
          <a:p>
            <a:r>
              <a:rPr lang="en-US" sz="3200" dirty="0"/>
              <a:t>Norming data from Tan &amp; Jaeger (2025)</a:t>
            </a:r>
            <a:endParaRPr lang="en-TW" sz="3200" dirty="0"/>
          </a:p>
        </p:txBody>
      </p:sp>
      <p:pic>
        <p:nvPicPr>
          <p:cNvPr id="14" name="Picture 13">
            <a:extLst>
              <a:ext uri="{FF2B5EF4-FFF2-40B4-BE49-F238E27FC236}">
                <a16:creationId xmlns:a16="http://schemas.microsoft.com/office/drawing/2014/main" id="{B02DFEE9-38CF-2C2F-D512-0D72918A1C56}"/>
              </a:ext>
            </a:extLst>
          </p:cNvPr>
          <p:cNvPicPr>
            <a:picLocks noChangeAspect="1"/>
          </p:cNvPicPr>
          <p:nvPr/>
        </p:nvPicPr>
        <p:blipFill>
          <a:blip r:embed="rId2"/>
          <a:srcRect/>
          <a:stretch/>
        </p:blipFill>
        <p:spPr>
          <a:xfrm>
            <a:off x="721817" y="1069010"/>
            <a:ext cx="10515600" cy="5520314"/>
          </a:xfrm>
          <a:prstGeom prst="rect">
            <a:avLst/>
          </a:prstGeom>
        </p:spPr>
      </p:pic>
    </p:spTree>
    <p:extLst>
      <p:ext uri="{BB962C8B-B14F-4D97-AF65-F5344CB8AC3E}">
        <p14:creationId xmlns:p14="http://schemas.microsoft.com/office/powerpoint/2010/main" val="3695679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Comparison</a:t>
            </a:r>
            <a:endParaRPr lang="en-TW" sz="3200" dirty="0"/>
          </a:p>
        </p:txBody>
      </p:sp>
      <p:pic>
        <p:nvPicPr>
          <p:cNvPr id="6" name="Picture 5">
            <a:extLst>
              <a:ext uri="{FF2B5EF4-FFF2-40B4-BE49-F238E27FC236}">
                <a16:creationId xmlns:a16="http://schemas.microsoft.com/office/drawing/2014/main" id="{032F826C-EBB2-4304-23B0-0AA291E7ADCA}"/>
              </a:ext>
            </a:extLst>
          </p:cNvPr>
          <p:cNvPicPr>
            <a:picLocks noChangeAspect="1"/>
          </p:cNvPicPr>
          <p:nvPr/>
        </p:nvPicPr>
        <p:blipFill>
          <a:blip r:embed="rId2"/>
          <a:stretch>
            <a:fillRect/>
          </a:stretch>
        </p:blipFill>
        <p:spPr>
          <a:xfrm>
            <a:off x="556645" y="1516506"/>
            <a:ext cx="5366479" cy="3506555"/>
          </a:xfrm>
          <a:prstGeom prst="rect">
            <a:avLst/>
          </a:prstGeom>
        </p:spPr>
      </p:pic>
      <p:sp>
        <p:nvSpPr>
          <p:cNvPr id="9" name="TextBox 8">
            <a:extLst>
              <a:ext uri="{FF2B5EF4-FFF2-40B4-BE49-F238E27FC236}">
                <a16:creationId xmlns:a16="http://schemas.microsoft.com/office/drawing/2014/main" id="{19D63B83-879F-5F5F-FBFB-675B4AFEA495}"/>
              </a:ext>
            </a:extLst>
          </p:cNvPr>
          <p:cNvSpPr txBox="1"/>
          <p:nvPr/>
        </p:nvSpPr>
        <p:spPr>
          <a:xfrm>
            <a:off x="2286659" y="1120899"/>
            <a:ext cx="1832810" cy="400110"/>
          </a:xfrm>
          <a:prstGeom prst="rect">
            <a:avLst/>
          </a:prstGeom>
          <a:noFill/>
        </p:spPr>
        <p:txBody>
          <a:bodyPr wrap="square">
            <a:spAutoFit/>
          </a:bodyPr>
          <a:lstStyle/>
          <a:p>
            <a:pPr algn="ctr"/>
            <a:r>
              <a:rPr lang="en-TW" sz="2000" dirty="0"/>
              <a:t>Our study</a:t>
            </a:r>
          </a:p>
        </p:txBody>
      </p:sp>
      <p:sp>
        <p:nvSpPr>
          <p:cNvPr id="10" name="TextBox 9">
            <a:extLst>
              <a:ext uri="{FF2B5EF4-FFF2-40B4-BE49-F238E27FC236}">
                <a16:creationId xmlns:a16="http://schemas.microsoft.com/office/drawing/2014/main" id="{9F721976-1566-4112-E9C9-6C685F514E97}"/>
              </a:ext>
            </a:extLst>
          </p:cNvPr>
          <p:cNvSpPr txBox="1"/>
          <p:nvPr/>
        </p:nvSpPr>
        <p:spPr>
          <a:xfrm>
            <a:off x="7852716" y="1120899"/>
            <a:ext cx="2576017" cy="400110"/>
          </a:xfrm>
          <a:prstGeom prst="rect">
            <a:avLst/>
          </a:prstGeom>
          <a:noFill/>
        </p:spPr>
        <p:txBody>
          <a:bodyPr wrap="square">
            <a:spAutoFit/>
          </a:bodyPr>
          <a:lstStyle/>
          <a:p>
            <a:pPr algn="ctr"/>
            <a:r>
              <a:rPr lang="en-TW" sz="2000" dirty="0"/>
              <a:t>Tan &amp; Jaeger (2025)</a:t>
            </a:r>
          </a:p>
        </p:txBody>
      </p:sp>
      <p:sp>
        <p:nvSpPr>
          <p:cNvPr id="11" name="TextBox 10">
            <a:extLst>
              <a:ext uri="{FF2B5EF4-FFF2-40B4-BE49-F238E27FC236}">
                <a16:creationId xmlns:a16="http://schemas.microsoft.com/office/drawing/2014/main" id="{A95C00A3-8927-F19A-BA98-E214D962FC39}"/>
              </a:ext>
            </a:extLst>
          </p:cNvPr>
          <p:cNvSpPr txBox="1"/>
          <p:nvPr/>
        </p:nvSpPr>
        <p:spPr>
          <a:xfrm>
            <a:off x="304635" y="5513397"/>
            <a:ext cx="11992595" cy="830997"/>
          </a:xfrm>
          <a:prstGeom prst="rect">
            <a:avLst/>
          </a:prstGeom>
          <a:noFill/>
        </p:spPr>
        <p:txBody>
          <a:bodyPr wrap="square">
            <a:spAutoFit/>
          </a:bodyPr>
          <a:lstStyle/>
          <a:p>
            <a:pPr marL="342900" indent="-342900">
              <a:buFont typeface="Arial" panose="020B0604020202020204" pitchFamily="34" charset="0"/>
              <a:buChar char="•"/>
            </a:pPr>
            <a:r>
              <a:rPr lang="en-TW" sz="2400" dirty="0"/>
              <a:t>V</a:t>
            </a:r>
            <a:r>
              <a:rPr lang="en-US" sz="2400" dirty="0"/>
              <a:t>O</a:t>
            </a:r>
            <a:r>
              <a:rPr lang="en-TW" sz="2400" dirty="0"/>
              <a:t>T boundary appears to be more positive for our stimuli [cf. Tan &amp; Jaeger (2025)]</a:t>
            </a:r>
          </a:p>
          <a:p>
            <a:pPr marL="342900" indent="-342900">
              <a:buFont typeface="Arial" panose="020B0604020202020204" pitchFamily="34" charset="0"/>
              <a:buChar char="•"/>
            </a:pPr>
            <a:r>
              <a:rPr lang="en-TW" sz="2400" dirty="0"/>
              <a:t>Less variable categorization responses elicited by stimuli in our study than Tan &amp; Jaeger’s</a:t>
            </a:r>
          </a:p>
        </p:txBody>
      </p:sp>
      <p:pic>
        <p:nvPicPr>
          <p:cNvPr id="14" name="Picture 13">
            <a:extLst>
              <a:ext uri="{FF2B5EF4-FFF2-40B4-BE49-F238E27FC236}">
                <a16:creationId xmlns:a16="http://schemas.microsoft.com/office/drawing/2014/main" id="{D2D0219B-9696-D8EB-74C8-742858B21DFA}"/>
              </a:ext>
            </a:extLst>
          </p:cNvPr>
          <p:cNvPicPr>
            <a:picLocks noChangeAspect="1"/>
          </p:cNvPicPr>
          <p:nvPr/>
        </p:nvPicPr>
        <p:blipFill>
          <a:blip r:embed="rId3"/>
          <a:srcRect/>
          <a:stretch/>
        </p:blipFill>
        <p:spPr>
          <a:xfrm>
            <a:off x="6195644" y="1751829"/>
            <a:ext cx="5449390" cy="3256241"/>
          </a:xfrm>
          <a:prstGeom prst="rect">
            <a:avLst/>
          </a:prstGeom>
        </p:spPr>
      </p:pic>
    </p:spTree>
    <p:extLst>
      <p:ext uri="{BB962C8B-B14F-4D97-AF65-F5344CB8AC3E}">
        <p14:creationId xmlns:p14="http://schemas.microsoft.com/office/powerpoint/2010/main" val="953843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Next steps</a:t>
            </a:r>
            <a:endParaRPr lang="en-TW" sz="3200" dirty="0"/>
          </a:p>
        </p:txBody>
      </p:sp>
      <p:sp>
        <p:nvSpPr>
          <p:cNvPr id="4" name="TextBox 3">
            <a:extLst>
              <a:ext uri="{FF2B5EF4-FFF2-40B4-BE49-F238E27FC236}">
                <a16:creationId xmlns:a16="http://schemas.microsoft.com/office/drawing/2014/main" id="{833400C9-2A17-E319-8A02-9AE49A114267}"/>
              </a:ext>
            </a:extLst>
          </p:cNvPr>
          <p:cNvSpPr txBox="1"/>
          <p:nvPr/>
        </p:nvSpPr>
        <p:spPr>
          <a:xfrm>
            <a:off x="-18307" y="1987195"/>
            <a:ext cx="11992595" cy="523220"/>
          </a:xfrm>
          <a:prstGeom prst="rect">
            <a:avLst/>
          </a:prstGeom>
          <a:noFill/>
        </p:spPr>
        <p:txBody>
          <a:bodyPr wrap="square">
            <a:spAutoFit/>
          </a:bodyPr>
          <a:lstStyle/>
          <a:p>
            <a:pPr marL="342900" indent="-342900">
              <a:buFont typeface="Arial" panose="020B0604020202020204" pitchFamily="34" charset="0"/>
              <a:buChar char="•"/>
            </a:pPr>
            <a:r>
              <a:rPr lang="en-US" sz="2800" dirty="0"/>
              <a:t>Creating exposure and testing blocks</a:t>
            </a:r>
            <a:endParaRPr lang="en-TW" sz="2800" dirty="0"/>
          </a:p>
        </p:txBody>
      </p:sp>
      <p:pic>
        <p:nvPicPr>
          <p:cNvPr id="7" name="Picture 6">
            <a:extLst>
              <a:ext uri="{FF2B5EF4-FFF2-40B4-BE49-F238E27FC236}">
                <a16:creationId xmlns:a16="http://schemas.microsoft.com/office/drawing/2014/main" id="{C6F31086-1689-9BD0-42D3-7F0768F9B6E2}"/>
              </a:ext>
            </a:extLst>
          </p:cNvPr>
          <p:cNvPicPr>
            <a:picLocks noChangeAspect="1"/>
          </p:cNvPicPr>
          <p:nvPr/>
        </p:nvPicPr>
        <p:blipFill>
          <a:blip r:embed="rId2"/>
          <a:stretch>
            <a:fillRect/>
          </a:stretch>
        </p:blipFill>
        <p:spPr>
          <a:xfrm>
            <a:off x="196653" y="2542256"/>
            <a:ext cx="11655848" cy="4000973"/>
          </a:xfrm>
          <a:prstGeom prst="rect">
            <a:avLst/>
          </a:prstGeom>
        </p:spPr>
      </p:pic>
      <p:sp>
        <p:nvSpPr>
          <p:cNvPr id="5" name="TextBox 4">
            <a:extLst>
              <a:ext uri="{FF2B5EF4-FFF2-40B4-BE49-F238E27FC236}">
                <a16:creationId xmlns:a16="http://schemas.microsoft.com/office/drawing/2014/main" id="{9E3F8AAB-7103-402E-2903-6E6E55582D3F}"/>
              </a:ext>
            </a:extLst>
          </p:cNvPr>
          <p:cNvSpPr txBox="1"/>
          <p:nvPr/>
        </p:nvSpPr>
        <p:spPr>
          <a:xfrm>
            <a:off x="0" y="727643"/>
            <a:ext cx="11852501" cy="1200329"/>
          </a:xfrm>
          <a:prstGeom prst="rect">
            <a:avLst/>
          </a:prstGeom>
          <a:noFill/>
        </p:spPr>
        <p:txBody>
          <a:bodyPr wrap="square">
            <a:spAutoFit/>
          </a:bodyPr>
          <a:lstStyle/>
          <a:p>
            <a:r>
              <a:rPr lang="en-US" sz="2400" b="1" dirty="0">
                <a:solidFill>
                  <a:schemeClr val="accent5">
                    <a:lumMod val="50000"/>
                  </a:schemeClr>
                </a:solidFill>
              </a:rPr>
              <a:t>Would our specific choice for the main experiment be modified in light of our norming results (e.g., more positive VOT boundaries), or we just follow as closely as possible to Tan &amp; Jaeger’s design?</a:t>
            </a:r>
            <a:endParaRPr lang="en-TW" sz="2400" b="1" dirty="0">
              <a:solidFill>
                <a:schemeClr val="accent5">
                  <a:lumMod val="50000"/>
                </a:schemeClr>
              </a:solidFill>
            </a:endParaRPr>
          </a:p>
        </p:txBody>
      </p:sp>
    </p:spTree>
    <p:extLst>
      <p:ext uri="{BB962C8B-B14F-4D97-AF65-F5344CB8AC3E}">
        <p14:creationId xmlns:p14="http://schemas.microsoft.com/office/powerpoint/2010/main" val="3698000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Next steps</a:t>
            </a:r>
            <a:endParaRPr lang="en-TW" sz="3200" dirty="0"/>
          </a:p>
        </p:txBody>
      </p:sp>
      <p:sp>
        <p:nvSpPr>
          <p:cNvPr id="3" name="TextBox 2">
            <a:extLst>
              <a:ext uri="{FF2B5EF4-FFF2-40B4-BE49-F238E27FC236}">
                <a16:creationId xmlns:a16="http://schemas.microsoft.com/office/drawing/2014/main" id="{75380421-7CBA-24B4-C689-CBCBE644A2E8}"/>
              </a:ext>
            </a:extLst>
          </p:cNvPr>
          <p:cNvSpPr txBox="1"/>
          <p:nvPr/>
        </p:nvSpPr>
        <p:spPr>
          <a:xfrm>
            <a:off x="10268" y="1035697"/>
            <a:ext cx="12181731" cy="4678204"/>
          </a:xfrm>
          <a:prstGeom prst="rect">
            <a:avLst/>
          </a:prstGeom>
          <a:noFill/>
        </p:spPr>
        <p:txBody>
          <a:bodyPr wrap="square">
            <a:spAutoFit/>
          </a:bodyPr>
          <a:lstStyle/>
          <a:p>
            <a:r>
              <a:rPr lang="en-TW" sz="2800" b="1" dirty="0"/>
              <a:t>Testing blocks</a:t>
            </a:r>
          </a:p>
          <a:p>
            <a:endParaRPr lang="en-TW" sz="2800" b="1" dirty="0"/>
          </a:p>
          <a:p>
            <a:r>
              <a:rPr lang="en-TW" sz="2800" dirty="0"/>
              <a:t>Tan &amp; Jaeger (2025): </a:t>
            </a:r>
            <a:r>
              <a:rPr lang="en-US" sz="2800" dirty="0"/>
              <a:t>12 minimal pair trials assessing participants’ categorization at 12 different VOTs (−5, 5, 15, 25, 30, 35, 40, 45, 50, 55, 65, 70 </a:t>
            </a:r>
            <a:r>
              <a:rPr lang="en-US" sz="2800" dirty="0" err="1"/>
              <a:t>ms</a:t>
            </a:r>
            <a:r>
              <a:rPr lang="en-US" sz="2800" dirty="0"/>
              <a:t>)</a:t>
            </a:r>
          </a:p>
          <a:p>
            <a:endParaRPr lang="en-US" sz="2800" dirty="0"/>
          </a:p>
          <a:p>
            <a:r>
              <a:rPr lang="en-US" sz="2800" dirty="0">
                <a:sym typeface="Wingdings" pitchFamily="2" charset="2"/>
              </a:rPr>
              <a:t> s</a:t>
            </a:r>
            <a:r>
              <a:rPr lang="en-US" sz="2800" dirty="0"/>
              <a:t>ame testing range?</a:t>
            </a:r>
            <a:br>
              <a:rPr lang="en-US" sz="2800" dirty="0"/>
            </a:br>
            <a:br>
              <a:rPr lang="en-US" sz="2800" dirty="0"/>
            </a:br>
            <a:r>
              <a:rPr lang="en-US" sz="2800" dirty="0"/>
              <a:t>Counterbalancing: </a:t>
            </a:r>
            <a:br>
              <a:rPr lang="en-US" sz="2800" dirty="0"/>
            </a:br>
            <a:r>
              <a:rPr lang="en-US" sz="2800" dirty="0"/>
              <a:t>the assignment of VOTs to minimal pair continua within and across test blocks</a:t>
            </a:r>
            <a:br>
              <a:rPr lang="en-US" sz="2800" dirty="0"/>
            </a:br>
            <a:r>
              <a:rPr lang="en-US" dirty="0"/>
              <a:t>*Each minimal pair appear equally often within each test block (3 pair x 4 times), and each minimal pair appear with each VOT equally often (twice) across all six test blocks (and no more than once per test block).</a:t>
            </a:r>
            <a:endParaRPr lang="en-TW" dirty="0"/>
          </a:p>
        </p:txBody>
      </p:sp>
    </p:spTree>
    <p:extLst>
      <p:ext uri="{BB962C8B-B14F-4D97-AF65-F5344CB8AC3E}">
        <p14:creationId xmlns:p14="http://schemas.microsoft.com/office/powerpoint/2010/main" val="131338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Next steps</a:t>
            </a:r>
            <a:endParaRPr lang="en-TW" sz="3200" dirty="0"/>
          </a:p>
        </p:txBody>
      </p:sp>
      <p:sp>
        <p:nvSpPr>
          <p:cNvPr id="6" name="TextBox 5">
            <a:extLst>
              <a:ext uri="{FF2B5EF4-FFF2-40B4-BE49-F238E27FC236}">
                <a16:creationId xmlns:a16="http://schemas.microsoft.com/office/drawing/2014/main" id="{8CDCA16D-4A83-1A19-280D-B72D2ABFF449}"/>
              </a:ext>
            </a:extLst>
          </p:cNvPr>
          <p:cNvSpPr txBox="1"/>
          <p:nvPr/>
        </p:nvSpPr>
        <p:spPr>
          <a:xfrm>
            <a:off x="485660" y="5383165"/>
            <a:ext cx="5681780" cy="892552"/>
          </a:xfrm>
          <a:prstGeom prst="rect">
            <a:avLst/>
          </a:prstGeom>
          <a:noFill/>
        </p:spPr>
        <p:txBody>
          <a:bodyPr wrap="square">
            <a:spAutoFit/>
          </a:bodyPr>
          <a:lstStyle/>
          <a:p>
            <a:r>
              <a:rPr lang="en-TW" sz="2000" dirty="0"/>
              <a:t>Exposure condition: -20ms, -10ms and +20ms?</a:t>
            </a:r>
          </a:p>
          <a:p>
            <a:r>
              <a:rPr lang="en-TW" sz="1600" dirty="0"/>
              <a:t>*</a:t>
            </a:r>
            <a:r>
              <a:rPr lang="en-US" sz="1600" dirty="0"/>
              <a:t>three conditions that shifted exposure distributions to different degrees relative to listeners’ prior expectations</a:t>
            </a:r>
            <a:endParaRPr lang="en-TW" sz="1600" dirty="0"/>
          </a:p>
        </p:txBody>
      </p:sp>
      <p:sp>
        <p:nvSpPr>
          <p:cNvPr id="8" name="TextBox 7">
            <a:extLst>
              <a:ext uri="{FF2B5EF4-FFF2-40B4-BE49-F238E27FC236}">
                <a16:creationId xmlns:a16="http://schemas.microsoft.com/office/drawing/2014/main" id="{F02B2E91-CA6F-936C-5754-71C4A42D3FAD}"/>
              </a:ext>
            </a:extLst>
          </p:cNvPr>
          <p:cNvSpPr txBox="1"/>
          <p:nvPr/>
        </p:nvSpPr>
        <p:spPr>
          <a:xfrm>
            <a:off x="10269" y="1035697"/>
            <a:ext cx="5151780" cy="523220"/>
          </a:xfrm>
          <a:prstGeom prst="rect">
            <a:avLst/>
          </a:prstGeom>
          <a:noFill/>
        </p:spPr>
        <p:txBody>
          <a:bodyPr wrap="square">
            <a:spAutoFit/>
          </a:bodyPr>
          <a:lstStyle/>
          <a:p>
            <a:r>
              <a:rPr lang="en-TW" sz="2800" b="1" dirty="0"/>
              <a:t>Exposure blocks</a:t>
            </a:r>
          </a:p>
        </p:txBody>
      </p:sp>
      <p:sp>
        <p:nvSpPr>
          <p:cNvPr id="9" name="TextBox 8">
            <a:extLst>
              <a:ext uri="{FF2B5EF4-FFF2-40B4-BE49-F238E27FC236}">
                <a16:creationId xmlns:a16="http://schemas.microsoft.com/office/drawing/2014/main" id="{335ED7BB-A537-7BF5-6848-FFD059E3DB44}"/>
              </a:ext>
            </a:extLst>
          </p:cNvPr>
          <p:cNvSpPr txBox="1"/>
          <p:nvPr/>
        </p:nvSpPr>
        <p:spPr>
          <a:xfrm>
            <a:off x="6243640" y="5429629"/>
            <a:ext cx="5681780" cy="738664"/>
          </a:xfrm>
          <a:prstGeom prst="rect">
            <a:avLst/>
          </a:prstGeom>
          <a:noFill/>
        </p:spPr>
        <p:txBody>
          <a:bodyPr wrap="square">
            <a:spAutoFit/>
          </a:bodyPr>
          <a:lstStyle/>
          <a:p>
            <a:r>
              <a:rPr lang="en-US" sz="2400" dirty="0">
                <a:sym typeface="Wingdings" pitchFamily="2" charset="2"/>
              </a:rPr>
              <a:t> </a:t>
            </a:r>
            <a:r>
              <a:rPr lang="en-US" dirty="0"/>
              <a:t>listeners’ prior expectations for VOT productions from a native English speaker or a Spanish speaker?</a:t>
            </a:r>
            <a:endParaRPr lang="en-TW" dirty="0"/>
          </a:p>
        </p:txBody>
      </p:sp>
      <p:pic>
        <p:nvPicPr>
          <p:cNvPr id="11" name="Picture 10">
            <a:extLst>
              <a:ext uri="{FF2B5EF4-FFF2-40B4-BE49-F238E27FC236}">
                <a16:creationId xmlns:a16="http://schemas.microsoft.com/office/drawing/2014/main" id="{67A7DD92-DD32-1B99-4A1D-AF4E5F6F688C}"/>
              </a:ext>
            </a:extLst>
          </p:cNvPr>
          <p:cNvPicPr>
            <a:picLocks noChangeAspect="1"/>
          </p:cNvPicPr>
          <p:nvPr/>
        </p:nvPicPr>
        <p:blipFill>
          <a:blip r:embed="rId2"/>
          <a:stretch>
            <a:fillRect/>
          </a:stretch>
        </p:blipFill>
        <p:spPr>
          <a:xfrm>
            <a:off x="583498" y="1793894"/>
            <a:ext cx="10709342" cy="3267858"/>
          </a:xfrm>
          <a:prstGeom prst="rect">
            <a:avLst/>
          </a:prstGeom>
        </p:spPr>
      </p:pic>
    </p:spTree>
    <p:extLst>
      <p:ext uri="{BB962C8B-B14F-4D97-AF65-F5344CB8AC3E}">
        <p14:creationId xmlns:p14="http://schemas.microsoft.com/office/powerpoint/2010/main" val="2804570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Next steps</a:t>
            </a:r>
            <a:endParaRPr lang="en-TW" sz="3200" dirty="0"/>
          </a:p>
        </p:txBody>
      </p:sp>
      <p:pic>
        <p:nvPicPr>
          <p:cNvPr id="5" name="Picture 4">
            <a:extLst>
              <a:ext uri="{FF2B5EF4-FFF2-40B4-BE49-F238E27FC236}">
                <a16:creationId xmlns:a16="http://schemas.microsoft.com/office/drawing/2014/main" id="{BC3650FD-1E87-B195-81C2-35B7C7F04977}"/>
              </a:ext>
            </a:extLst>
          </p:cNvPr>
          <p:cNvPicPr>
            <a:picLocks noChangeAspect="1"/>
          </p:cNvPicPr>
          <p:nvPr/>
        </p:nvPicPr>
        <p:blipFill>
          <a:blip r:embed="rId2"/>
          <a:stretch>
            <a:fillRect/>
          </a:stretch>
        </p:blipFill>
        <p:spPr>
          <a:xfrm>
            <a:off x="71822" y="1849892"/>
            <a:ext cx="5681780" cy="4592772"/>
          </a:xfrm>
          <a:prstGeom prst="rect">
            <a:avLst/>
          </a:prstGeom>
        </p:spPr>
      </p:pic>
      <p:sp>
        <p:nvSpPr>
          <p:cNvPr id="8" name="TextBox 7">
            <a:extLst>
              <a:ext uri="{FF2B5EF4-FFF2-40B4-BE49-F238E27FC236}">
                <a16:creationId xmlns:a16="http://schemas.microsoft.com/office/drawing/2014/main" id="{F02B2E91-CA6F-936C-5754-71C4A42D3FAD}"/>
              </a:ext>
            </a:extLst>
          </p:cNvPr>
          <p:cNvSpPr txBox="1"/>
          <p:nvPr/>
        </p:nvSpPr>
        <p:spPr>
          <a:xfrm>
            <a:off x="10269" y="1035697"/>
            <a:ext cx="5151780" cy="523220"/>
          </a:xfrm>
          <a:prstGeom prst="rect">
            <a:avLst/>
          </a:prstGeom>
          <a:noFill/>
        </p:spPr>
        <p:txBody>
          <a:bodyPr wrap="square">
            <a:spAutoFit/>
          </a:bodyPr>
          <a:lstStyle/>
          <a:p>
            <a:r>
              <a:rPr lang="en-TW" sz="2800" b="1" dirty="0"/>
              <a:t>Exposure blocks</a:t>
            </a:r>
          </a:p>
        </p:txBody>
      </p:sp>
      <p:sp>
        <p:nvSpPr>
          <p:cNvPr id="4" name="TextBox 3">
            <a:extLst>
              <a:ext uri="{FF2B5EF4-FFF2-40B4-BE49-F238E27FC236}">
                <a16:creationId xmlns:a16="http://schemas.microsoft.com/office/drawing/2014/main" id="{1197C171-6145-EDD8-EA45-917E17E4CE97}"/>
              </a:ext>
            </a:extLst>
          </p:cNvPr>
          <p:cNvSpPr txBox="1"/>
          <p:nvPr/>
        </p:nvSpPr>
        <p:spPr>
          <a:xfrm>
            <a:off x="6096000" y="1243881"/>
            <a:ext cx="6186486" cy="2585323"/>
          </a:xfrm>
          <a:prstGeom prst="rect">
            <a:avLst/>
          </a:prstGeom>
          <a:noFill/>
        </p:spPr>
        <p:txBody>
          <a:bodyPr wrap="square">
            <a:spAutoFit/>
          </a:bodyPr>
          <a:lstStyle/>
          <a:p>
            <a:r>
              <a:rPr lang="en-US" sz="1800" b="1" i="0" u="none" strike="noStrike" dirty="0">
                <a:solidFill>
                  <a:srgbClr val="000000"/>
                </a:solidFill>
                <a:effectLst/>
                <a:latin typeface="Arial" panose="020B0604020202020204" pitchFamily="34" charset="0"/>
              </a:rPr>
              <a:t>21</a:t>
            </a:r>
            <a:r>
              <a:rPr lang="en-US" sz="1800" b="0" i="0" u="none" strike="noStrike" dirty="0">
                <a:solidFill>
                  <a:srgbClr val="000000"/>
                </a:solidFill>
                <a:effectLst/>
                <a:latin typeface="Arial" panose="020B0604020202020204" pitchFamily="34" charset="0"/>
              </a:rPr>
              <a:t> distinct VOT locations (across three minimal pairs) during exposure: </a:t>
            </a:r>
            <a:br>
              <a:rPr lang="en-US" sz="1800" b="0" i="0" u="none" strike="noStrike" dirty="0">
                <a:solidFill>
                  <a:srgbClr val="000000"/>
                </a:solidFill>
                <a:effectLst/>
                <a:latin typeface="Arial" panose="020B0604020202020204" pitchFamily="34" charset="0"/>
              </a:rPr>
            </a:br>
            <a:br>
              <a:rPr lang="en-US" sz="1800" b="0" i="0" u="none" strike="noStrike" dirty="0">
                <a:solidFill>
                  <a:srgbClr val="000000"/>
                </a:solidFill>
                <a:effectLst/>
                <a:latin typeface="Arial" panose="020B0604020202020204" pitchFamily="34" charset="0"/>
              </a:rPr>
            </a:br>
            <a:r>
              <a:rPr lang="en-US" sz="1800" b="0" i="0" u="sng" strike="noStrike" dirty="0">
                <a:solidFill>
                  <a:srgbClr val="000000"/>
                </a:solidFill>
                <a:effectLst/>
                <a:latin typeface="Arial" panose="020B0604020202020204" pitchFamily="34" charset="0"/>
              </a:rPr>
              <a:t>(a) -20ms condition:</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     all 5ms-steps from -20ms~75ms + 85ms token</a:t>
            </a:r>
            <a:br>
              <a:rPr lang="en-US" sz="1800" b="0" i="0" u="none" strike="noStrike" dirty="0">
                <a:solidFill>
                  <a:srgbClr val="000000"/>
                </a:solidFill>
                <a:effectLst/>
                <a:latin typeface="Arial" panose="020B0604020202020204" pitchFamily="34" charset="0"/>
              </a:rPr>
            </a:br>
            <a:r>
              <a:rPr lang="en-US" sz="1800" b="0" i="0" u="sng" strike="noStrike" dirty="0">
                <a:solidFill>
                  <a:srgbClr val="000000"/>
                </a:solidFill>
                <a:effectLst/>
                <a:latin typeface="Arial" panose="020B0604020202020204" pitchFamily="34" charset="0"/>
              </a:rPr>
              <a:t>(b) -10ms condition:</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     all 5ms-steps from -10ms~85ms + 95ms token</a:t>
            </a:r>
            <a:br>
              <a:rPr lang="en-US" sz="1800" b="0" i="0" u="none" strike="noStrike" dirty="0">
                <a:solidFill>
                  <a:srgbClr val="000000"/>
                </a:solidFill>
                <a:effectLst/>
                <a:latin typeface="Arial" panose="020B0604020202020204" pitchFamily="34" charset="0"/>
              </a:rPr>
            </a:br>
            <a:r>
              <a:rPr lang="en-US" sz="1800" b="0" i="0" u="sng" strike="noStrike" dirty="0">
                <a:solidFill>
                  <a:srgbClr val="000000"/>
                </a:solidFill>
                <a:effectLst/>
                <a:latin typeface="Arial" panose="020B0604020202020204" pitchFamily="34" charset="0"/>
              </a:rPr>
              <a:t>(c) +20ms condition: </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     all 5ms-steps from 20ms~115ms + 125ms token</a:t>
            </a:r>
            <a:endParaRPr lang="en-TW" dirty="0"/>
          </a:p>
        </p:txBody>
      </p:sp>
      <p:sp>
        <p:nvSpPr>
          <p:cNvPr id="10" name="TextBox 9">
            <a:extLst>
              <a:ext uri="{FF2B5EF4-FFF2-40B4-BE49-F238E27FC236}">
                <a16:creationId xmlns:a16="http://schemas.microsoft.com/office/drawing/2014/main" id="{4FFE4EB4-80FF-DAA2-2D91-F33B1C98B526}"/>
              </a:ext>
            </a:extLst>
          </p:cNvPr>
          <p:cNvSpPr txBox="1"/>
          <p:nvPr/>
        </p:nvSpPr>
        <p:spPr>
          <a:xfrm>
            <a:off x="6096000" y="3976495"/>
            <a:ext cx="6229350" cy="646331"/>
          </a:xfrm>
          <a:prstGeom prst="rect">
            <a:avLst/>
          </a:prstGeom>
          <a:noFill/>
        </p:spPr>
        <p:txBody>
          <a:bodyPr wrap="square">
            <a:spAutoFit/>
          </a:bodyPr>
          <a:lstStyle/>
          <a:p>
            <a:r>
              <a:rPr lang="en-US" sz="1800" dirty="0">
                <a:sym typeface="Wingdings" pitchFamily="2" charset="2"/>
              </a:rPr>
              <a:t> s</a:t>
            </a:r>
            <a:r>
              <a:rPr lang="en-US" sz="1800" dirty="0"/>
              <a:t>ame tokens?</a:t>
            </a:r>
            <a:br>
              <a:rPr lang="en-US" sz="1800" dirty="0"/>
            </a:br>
            <a:r>
              <a:rPr lang="en-US" sz="1800" dirty="0">
                <a:sym typeface="Wingdings" pitchFamily="2" charset="2"/>
              </a:rPr>
              <a:t> same phonetic distribution (in terms of mean and SD)?</a:t>
            </a:r>
            <a:endParaRPr lang="en-TW" dirty="0"/>
          </a:p>
        </p:txBody>
      </p:sp>
    </p:spTree>
    <p:extLst>
      <p:ext uri="{BB962C8B-B14F-4D97-AF65-F5344CB8AC3E}">
        <p14:creationId xmlns:p14="http://schemas.microsoft.com/office/powerpoint/2010/main" val="827848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Next steps</a:t>
            </a:r>
            <a:endParaRPr lang="en-TW" sz="3200" dirty="0"/>
          </a:p>
        </p:txBody>
      </p:sp>
      <p:pic>
        <p:nvPicPr>
          <p:cNvPr id="5" name="Picture 4">
            <a:extLst>
              <a:ext uri="{FF2B5EF4-FFF2-40B4-BE49-F238E27FC236}">
                <a16:creationId xmlns:a16="http://schemas.microsoft.com/office/drawing/2014/main" id="{BC3650FD-1E87-B195-81C2-35B7C7F04977}"/>
              </a:ext>
            </a:extLst>
          </p:cNvPr>
          <p:cNvPicPr>
            <a:picLocks noChangeAspect="1"/>
          </p:cNvPicPr>
          <p:nvPr/>
        </p:nvPicPr>
        <p:blipFill>
          <a:blip r:embed="rId2"/>
          <a:stretch>
            <a:fillRect/>
          </a:stretch>
        </p:blipFill>
        <p:spPr>
          <a:xfrm>
            <a:off x="71822" y="1849892"/>
            <a:ext cx="5681780" cy="4592772"/>
          </a:xfrm>
          <a:prstGeom prst="rect">
            <a:avLst/>
          </a:prstGeom>
        </p:spPr>
      </p:pic>
      <p:sp>
        <p:nvSpPr>
          <p:cNvPr id="8" name="TextBox 7">
            <a:extLst>
              <a:ext uri="{FF2B5EF4-FFF2-40B4-BE49-F238E27FC236}">
                <a16:creationId xmlns:a16="http://schemas.microsoft.com/office/drawing/2014/main" id="{F02B2E91-CA6F-936C-5754-71C4A42D3FAD}"/>
              </a:ext>
            </a:extLst>
          </p:cNvPr>
          <p:cNvSpPr txBox="1"/>
          <p:nvPr/>
        </p:nvSpPr>
        <p:spPr>
          <a:xfrm>
            <a:off x="10269" y="1035697"/>
            <a:ext cx="5151780" cy="523220"/>
          </a:xfrm>
          <a:prstGeom prst="rect">
            <a:avLst/>
          </a:prstGeom>
          <a:noFill/>
        </p:spPr>
        <p:txBody>
          <a:bodyPr wrap="square">
            <a:spAutoFit/>
          </a:bodyPr>
          <a:lstStyle/>
          <a:p>
            <a:r>
              <a:rPr lang="en-TW" sz="2800" b="1" dirty="0"/>
              <a:t>Exposure blocks</a:t>
            </a:r>
          </a:p>
        </p:txBody>
      </p:sp>
      <p:sp>
        <p:nvSpPr>
          <p:cNvPr id="10" name="TextBox 9">
            <a:extLst>
              <a:ext uri="{FF2B5EF4-FFF2-40B4-BE49-F238E27FC236}">
                <a16:creationId xmlns:a16="http://schemas.microsoft.com/office/drawing/2014/main" id="{4FFE4EB4-80FF-DAA2-2D91-F33B1C98B526}"/>
              </a:ext>
            </a:extLst>
          </p:cNvPr>
          <p:cNvSpPr txBox="1"/>
          <p:nvPr/>
        </p:nvSpPr>
        <p:spPr>
          <a:xfrm>
            <a:off x="5855370" y="1161108"/>
            <a:ext cx="6229350" cy="3693319"/>
          </a:xfrm>
          <a:prstGeom prst="rect">
            <a:avLst/>
          </a:prstGeom>
          <a:noFill/>
        </p:spPr>
        <p:txBody>
          <a:bodyPr wrap="square">
            <a:spAutoFit/>
          </a:bodyPr>
          <a:lstStyle/>
          <a:p>
            <a:r>
              <a:rPr lang="en-US" sz="1800" b="1" u="sng" dirty="0">
                <a:sym typeface="Wingdings" pitchFamily="2" charset="2"/>
              </a:rPr>
              <a:t>To-do</a:t>
            </a:r>
            <a:br>
              <a:rPr lang="en-US" sz="1800" b="1" u="sng" dirty="0">
                <a:sym typeface="Wingdings" pitchFamily="2" charset="2"/>
              </a:rPr>
            </a:br>
            <a:endParaRPr lang="en-US" sz="1800" dirty="0">
              <a:sym typeface="Wingdings" pitchFamily="2" charset="2"/>
            </a:endParaRPr>
          </a:p>
          <a:p>
            <a:pPr marL="342900" indent="-342900">
              <a:buAutoNum type="arabicParenBoth"/>
            </a:pPr>
            <a:r>
              <a:rPr lang="en-US" dirty="0">
                <a:sym typeface="Wingdings" pitchFamily="2" charset="2"/>
              </a:rPr>
              <a:t>Create one condition first (e.g., -20ms condition):</a:t>
            </a:r>
            <a:br>
              <a:rPr lang="en-US" dirty="0">
                <a:sym typeface="Wingdings" pitchFamily="2" charset="2"/>
              </a:rPr>
            </a:br>
            <a:br>
              <a:rPr lang="en-US" sz="1800" dirty="0">
                <a:sym typeface="Wingdings" pitchFamily="2" charset="2"/>
              </a:rPr>
            </a:br>
            <a:r>
              <a:rPr lang="en-US" sz="1800" dirty="0">
                <a:sym typeface="Wingdings" pitchFamily="2" charset="2"/>
              </a:rPr>
              <a:t>randomly sampling tokens for intended VOT distribution for three exposure blocks, then counterbalanced the block order across participants within the same exposure condition</a:t>
            </a:r>
            <a:br>
              <a:rPr lang="en-US" sz="1800" dirty="0">
                <a:sym typeface="Wingdings" pitchFamily="2" charset="2"/>
              </a:rPr>
            </a:br>
            <a:br>
              <a:rPr lang="en-US" sz="1800" dirty="0">
                <a:sym typeface="Wingdings" pitchFamily="2" charset="2"/>
              </a:rPr>
            </a:br>
            <a:r>
              <a:rPr lang="en-US" sz="1800" dirty="0">
                <a:sym typeface="Wingdings" pitchFamily="2" charset="2"/>
              </a:rPr>
              <a:t>half labeled, half unlabeled</a:t>
            </a:r>
            <a:br>
              <a:rPr lang="en-US" sz="1800" dirty="0">
                <a:sym typeface="Wingdings" pitchFamily="2" charset="2"/>
              </a:rPr>
            </a:br>
            <a:r>
              <a:rPr lang="en-US" sz="1800" dirty="0">
                <a:sym typeface="Wingdings" pitchFamily="2" charset="2"/>
              </a:rPr>
              <a:t> </a:t>
            </a:r>
          </a:p>
          <a:p>
            <a:pPr marL="342900" indent="-342900">
              <a:buAutoNum type="arabicParenBoth"/>
            </a:pPr>
            <a:r>
              <a:rPr lang="en-US" dirty="0">
                <a:sym typeface="Wingdings" pitchFamily="2" charset="2"/>
              </a:rPr>
              <a:t>For other conditions: simply shift the values of the whole selected VOT tokens by intended amount, then reselect the corresponding VOT tokens to from new distribution</a:t>
            </a:r>
            <a:endParaRPr lang="en-TW" dirty="0"/>
          </a:p>
        </p:txBody>
      </p:sp>
    </p:spTree>
    <p:extLst>
      <p:ext uri="{BB962C8B-B14F-4D97-AF65-F5344CB8AC3E}">
        <p14:creationId xmlns:p14="http://schemas.microsoft.com/office/powerpoint/2010/main" val="1562493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0F2-A9D5-2B57-93D0-7CE6D9A1335A}"/>
              </a:ext>
            </a:extLst>
          </p:cNvPr>
          <p:cNvSpPr>
            <a:spLocks noGrp="1"/>
          </p:cNvSpPr>
          <p:nvPr>
            <p:ph type="title"/>
          </p:nvPr>
        </p:nvSpPr>
        <p:spPr>
          <a:xfrm>
            <a:off x="-18307" y="-157882"/>
            <a:ext cx="10515600" cy="1325563"/>
          </a:xfrm>
        </p:spPr>
        <p:txBody>
          <a:bodyPr>
            <a:normAutofit/>
          </a:bodyPr>
          <a:lstStyle/>
          <a:p>
            <a:r>
              <a:rPr lang="en-US" sz="3200" dirty="0"/>
              <a:t>Next steps</a:t>
            </a:r>
            <a:endParaRPr lang="en-TW" sz="3200" dirty="0"/>
          </a:p>
        </p:txBody>
      </p:sp>
      <p:sp>
        <p:nvSpPr>
          <p:cNvPr id="4" name="TextBox 3">
            <a:extLst>
              <a:ext uri="{FF2B5EF4-FFF2-40B4-BE49-F238E27FC236}">
                <a16:creationId xmlns:a16="http://schemas.microsoft.com/office/drawing/2014/main" id="{833400C9-2A17-E319-8A02-9AE49A114267}"/>
              </a:ext>
            </a:extLst>
          </p:cNvPr>
          <p:cNvSpPr txBox="1"/>
          <p:nvPr/>
        </p:nvSpPr>
        <p:spPr>
          <a:xfrm>
            <a:off x="65917" y="964481"/>
            <a:ext cx="11992595" cy="2246769"/>
          </a:xfrm>
          <a:prstGeom prst="rect">
            <a:avLst/>
          </a:prstGeom>
          <a:noFill/>
        </p:spPr>
        <p:txBody>
          <a:bodyPr wrap="square">
            <a:spAutoFit/>
          </a:bodyPr>
          <a:lstStyle/>
          <a:p>
            <a:pPr marL="342900" indent="-342900">
              <a:buFont typeface="Arial" panose="020B0604020202020204" pitchFamily="34" charset="0"/>
              <a:buChar char="•"/>
            </a:pPr>
            <a:r>
              <a:rPr lang="en-US" sz="2800" dirty="0"/>
              <a:t>Setting up the “Spanish speaker” scenario</a:t>
            </a:r>
          </a:p>
          <a:p>
            <a:endParaRPr lang="en-US" sz="2800" dirty="0"/>
          </a:p>
          <a:p>
            <a:r>
              <a:rPr lang="en-US" sz="2800" dirty="0"/>
              <a:t>Picture of a Spanish speaker</a:t>
            </a:r>
          </a:p>
          <a:p>
            <a:r>
              <a:rPr lang="en-US" sz="2800" dirty="0"/>
              <a:t>Background story</a:t>
            </a:r>
          </a:p>
          <a:p>
            <a:r>
              <a:rPr lang="en-US" sz="2800" dirty="0"/>
              <a:t>Experiment instruction by Spanish speaker</a:t>
            </a:r>
            <a:endParaRPr lang="en-TW" sz="2800" dirty="0"/>
          </a:p>
        </p:txBody>
      </p:sp>
    </p:spTree>
    <p:extLst>
      <p:ext uri="{BB962C8B-B14F-4D97-AF65-F5344CB8AC3E}">
        <p14:creationId xmlns:p14="http://schemas.microsoft.com/office/powerpoint/2010/main" val="3473630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8C76-D18F-9C1B-1192-CD6192CC87ED}"/>
              </a:ext>
            </a:extLst>
          </p:cNvPr>
          <p:cNvSpPr>
            <a:spLocks noGrp="1"/>
          </p:cNvSpPr>
          <p:nvPr>
            <p:ph type="title"/>
          </p:nvPr>
        </p:nvSpPr>
        <p:spPr>
          <a:xfrm>
            <a:off x="838200" y="329029"/>
            <a:ext cx="10515600" cy="1325563"/>
          </a:xfrm>
        </p:spPr>
        <p:txBody>
          <a:bodyPr/>
          <a:lstStyle/>
          <a:p>
            <a:r>
              <a:rPr lang="en-TW" dirty="0"/>
              <a:t>2026/06/05 updates</a:t>
            </a:r>
          </a:p>
        </p:txBody>
      </p:sp>
      <p:sp>
        <p:nvSpPr>
          <p:cNvPr id="3" name="Content Placeholder 2">
            <a:extLst>
              <a:ext uri="{FF2B5EF4-FFF2-40B4-BE49-F238E27FC236}">
                <a16:creationId xmlns:a16="http://schemas.microsoft.com/office/drawing/2014/main" id="{4D2F1A5B-13D3-35FF-171F-DB143AA72883}"/>
              </a:ext>
            </a:extLst>
          </p:cNvPr>
          <p:cNvSpPr>
            <a:spLocks noGrp="1"/>
          </p:cNvSpPr>
          <p:nvPr>
            <p:ph idx="1"/>
          </p:nvPr>
        </p:nvSpPr>
        <p:spPr>
          <a:xfrm>
            <a:off x="838200" y="1645150"/>
            <a:ext cx="10515600" cy="4351338"/>
          </a:xfrm>
        </p:spPr>
        <p:txBody>
          <a:bodyPr/>
          <a:lstStyle/>
          <a:p>
            <a:r>
              <a:rPr lang="en-US" dirty="0"/>
              <a:t>Full dataset - N=30</a:t>
            </a:r>
          </a:p>
          <a:p>
            <a:r>
              <a:rPr lang="en-US" dirty="0"/>
              <a:t>Revisit</a:t>
            </a:r>
            <a:r>
              <a:rPr lang="en-TW" dirty="0"/>
              <a:t> data exclusion criteria</a:t>
            </a:r>
          </a:p>
          <a:p>
            <a:pPr marL="0" indent="0">
              <a:buNone/>
            </a:pPr>
            <a:r>
              <a:rPr lang="en-TW" b="1" dirty="0">
                <a:solidFill>
                  <a:schemeClr val="accent5">
                    <a:lumMod val="75000"/>
                  </a:schemeClr>
                </a:solidFill>
              </a:rPr>
              <a:t>Participant-level exclusion: </a:t>
            </a:r>
            <a:r>
              <a:rPr lang="en-TW" dirty="0"/>
              <a:t>low accuracy in catch trials (N=2), over 15% trials with RTs &lt; 200ms (N=4), flat categorization curve (N=1), RT +-3D from group mean (N=0)</a:t>
            </a:r>
          </a:p>
        </p:txBody>
      </p:sp>
    </p:spTree>
    <p:extLst>
      <p:ext uri="{BB962C8B-B14F-4D97-AF65-F5344CB8AC3E}">
        <p14:creationId xmlns:p14="http://schemas.microsoft.com/office/powerpoint/2010/main" val="4241748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753</Words>
  <Application>Microsoft Macintosh PowerPoint</Application>
  <PresentationFormat>Widescreen</PresentationFormat>
  <Paragraphs>64</Paragraphs>
  <Slides>19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Norming results</vt:lpstr>
      <vt:lpstr>Our study (VOT tokens generated from a Spanish speaker’s recordings)</vt:lpstr>
      <vt:lpstr>Norming experiment</vt:lpstr>
      <vt:lpstr>Group-level results</vt:lpstr>
      <vt:lpstr>Group-level results</vt:lpstr>
      <vt:lpstr>Zoom into each word with individual categorization curves</vt:lpstr>
      <vt:lpstr>Tan &amp; Jaeger (2025) (VOT tokens generated from a native English speaker’s recordings)</vt:lpstr>
      <vt:lpstr>Norming data from Tan &amp; Jaeger (2025)</vt:lpstr>
      <vt:lpstr>Norming data from Tan &amp; Jaeger (2025)</vt:lpstr>
      <vt:lpstr>Norming data from Tan &amp; Jaeger (2025)</vt:lpstr>
      <vt:lpstr>Norming data from Tan &amp; Jaeger (2025)</vt:lpstr>
      <vt:lpstr>Comparison</vt:lpstr>
      <vt:lpstr>Next steps</vt:lpstr>
      <vt:lpstr>Next steps</vt:lpstr>
      <vt:lpstr>Next steps</vt:lpstr>
      <vt:lpstr>Next steps</vt:lpstr>
      <vt:lpstr>Next steps</vt:lpstr>
      <vt:lpstr>Next steps</vt:lpstr>
      <vt:lpstr>2026/06/05 updates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Norming results</dc:title>
  <dc:creator>Microsoft Office User</dc:creator>
  <cp:lastModifiedBy>Microsoft Office User</cp:lastModifiedBy>
  <cp:revision>96</cp:revision>
  <dcterms:created xsi:type="dcterms:W3CDTF">2026-04-12T17:50:06Z</dcterms:created>
  <dcterms:modified xsi:type="dcterms:W3CDTF">2026-06-05T23:52:43Z</dcterms:modified>
</cp:coreProperties>
</file>