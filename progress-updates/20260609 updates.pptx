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6" r:id="rId3"/>
    <p:sldId id="278" r:id="rId4"/>
    <p:sldId id="279" r:id="rId5"/>
    <p:sldId id="277" r:id="rId6"/>
    <p:sldId id="281" r:id="rId7"/>
    <p:sldId id="280" r:id="rId8"/>
    <p:sldId id="292" r:id="rId9"/>
    <p:sldId id="293" r:id="rId10"/>
    <p:sldId id="290" r:id="rId11"/>
    <p:sldId id="284" r:id="rId12"/>
    <p:sldId id="287" r:id="rId13"/>
    <p:sldId id="285" r:id="rId14"/>
    <p:sldId id="286" r:id="rId15"/>
    <p:sldId id="288" r:id="rId16"/>
    <p:sldId id="289" r:id="rId17"/>
    <p:sldId id="295" r:id="rId18"/>
    <p:sldId id="291" r:id="rId19"/>
    <p:sldId id="282" r:id="rId20"/>
    <p:sldId id="283" r:id="rId21"/>
    <p:sldId id="294" r:id="rId22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83FF"/>
    <a:srgbClr val="FF7E79"/>
    <a:srgbClr val="DAF1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1"/>
    <p:restoredTop sz="94646"/>
  </p:normalViewPr>
  <p:slideViewPr>
    <p:cSldViewPr snapToGrid="0">
      <p:cViewPr varScale="1">
        <p:scale>
          <a:sx n="97" d="100"/>
          <a:sy n="97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B0D4F-7B20-C843-AEA0-6DA76DB40034}" type="datetimeFigureOut">
              <a:rPr lang="en-TW" smtClean="0"/>
              <a:t>2026/6/9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9DE05-7567-F84F-A67A-D7F194335F9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93300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A7FC-61CE-C445-5FA0-422F5768A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D9706-D057-E602-874E-8BF554034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1BF8B-5700-9007-AA8E-9A9A7F41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428-AB21-474F-A4D9-979B203162CD}" type="datetimeFigureOut">
              <a:rPr lang="en-TW" smtClean="0"/>
              <a:t>2026/6/9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4FA1D-E19E-E6E4-6515-733501DEA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F58C4-D8F5-1F54-C9B1-B385A0AAD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FA8D-3878-8B4B-B20A-2E34C67220F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134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D2317-EE33-D797-A1EA-BEA1FEF7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8163-8A34-F7A2-2012-106FC0789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82CA2-1DCD-2467-0EB1-39F56F89E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428-AB21-474F-A4D9-979B203162CD}" type="datetimeFigureOut">
              <a:rPr lang="en-TW" smtClean="0"/>
              <a:t>2026/6/9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E6D0E-36FE-F1BE-4873-556CFE1A3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AB986-3E3A-D316-038C-6CD66DB5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FA8D-3878-8B4B-B20A-2E34C67220F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33279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6E58F-E784-4A80-AE60-335CBC27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B3731-01C0-D34B-4BBA-81FC84AE9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5340-76B6-0472-43A0-887DC6A13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428-AB21-474F-A4D9-979B203162CD}" type="datetimeFigureOut">
              <a:rPr lang="en-TW" smtClean="0"/>
              <a:t>2026/6/9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70F21-C1D8-AA90-62E0-129340999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3CB5F-15DD-99B3-BA0A-94BA2151E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FA8D-3878-8B4B-B20A-2E34C67220F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9228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86314-EAF2-36A6-AFEE-93D98DF7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011FC-8D5E-CDBE-218F-161A6C814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CFDA6-5D5A-6DE4-EC89-E798A1AE3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19978-3038-095F-A401-6D0E8E0D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428-AB21-474F-A4D9-979B203162CD}" type="datetimeFigureOut">
              <a:rPr lang="en-TW" smtClean="0"/>
              <a:t>2026/6/9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86BBE-35B1-D4DB-2A5C-B7E913D74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5825A-32D8-E646-6AA1-D7DB1F2F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FA8D-3878-8B4B-B20A-2E34C67220F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65544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5FE38-6722-9EA0-A071-0A53E8DF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6AE9A-85D5-177E-E671-5DE629D27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D6A34-1237-6FF7-8814-15A5BC58B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68110D-1E83-EC13-DD21-E209BFEC5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61DA7D-CEB8-66F9-7120-2FD2D0949E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24846-3752-3B2F-0CEE-93C34BBEA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428-AB21-474F-A4D9-979B203162CD}" type="datetimeFigureOut">
              <a:rPr lang="en-TW" smtClean="0"/>
              <a:t>2026/6/9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F0BC02-F703-CC6A-5E38-7783DFBB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960B1E-851B-8A05-B114-1152EE35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FA8D-3878-8B4B-B20A-2E34C67220F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3651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0A70B-1F87-4327-F276-D46FC7250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E9612-725F-E5A2-EDA3-95409D1C8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428-AB21-474F-A4D9-979B203162CD}" type="datetimeFigureOut">
              <a:rPr lang="en-TW" smtClean="0"/>
              <a:t>2026/6/9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5B23DA-5068-2AC7-F027-1792E1151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33136-B781-3C72-9A98-B3036EFAB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FA8D-3878-8B4B-B20A-2E34C67220F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11317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22925D-D4BA-4ECA-31DA-0C2B7816C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428-AB21-474F-A4D9-979B203162CD}" type="datetimeFigureOut">
              <a:rPr lang="en-TW" smtClean="0"/>
              <a:t>2026/6/9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A6521-E4A4-DD5B-47D6-A60E51A0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97055-F987-FA14-986F-C7DCEFF9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FA8D-3878-8B4B-B20A-2E34C67220F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95528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B26D-A27B-A0C5-067D-55468AFE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8B853-9EB2-5CA5-D3A7-DC10879DA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32099-FC93-8FAE-124A-9316AAB4B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7495C-1EAE-7594-E678-B236BC4C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428-AB21-474F-A4D9-979B203162CD}" type="datetimeFigureOut">
              <a:rPr lang="en-TW" smtClean="0"/>
              <a:t>2026/6/9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153CD-2635-F9C0-5518-B17AF1560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45C3F-D228-A8FA-14BB-EE402E63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FA8D-3878-8B4B-B20A-2E34C67220F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2471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201C1-8FE1-8976-A379-ECDB45F87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EF787F-0D12-1E4F-379D-5B211F2A0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641B5-C367-C8AB-6A01-BC7A5DF76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BD60E-0734-1D60-E1B6-8415A758B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428-AB21-474F-A4D9-979B203162CD}" type="datetimeFigureOut">
              <a:rPr lang="en-TW" smtClean="0"/>
              <a:t>2026/6/9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3B5FC-07A3-0A4D-64F5-DAC7D311E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33820-91B3-AF08-4EF0-8528F57D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FA8D-3878-8B4B-B20A-2E34C67220F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62978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1E1CE-C768-19E2-A6CD-0A1C61809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81C1B-67C5-F07F-88A4-FD9AABA18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80E68-BC1E-C9AF-C55A-4235F23C3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428-AB21-474F-A4D9-979B203162CD}" type="datetimeFigureOut">
              <a:rPr lang="en-TW" smtClean="0"/>
              <a:t>2026/6/9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714A6-E3CC-A3BF-9720-D4AC77EF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03CC9-58BE-A0DB-A1CA-F3B50461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FA8D-3878-8B4B-B20A-2E34C67220F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71775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520ADC-BEF5-05D7-2248-D80EFDCA2E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583F6-B1F0-0313-991E-029882A21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21D5C-856C-378C-A819-866C15A93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428-AB21-474F-A4D9-979B203162CD}" type="datetimeFigureOut">
              <a:rPr lang="en-TW" smtClean="0"/>
              <a:t>2026/6/9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E9E2B-8D3D-5C0A-2DE3-178E0F96B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4562B-7771-C1B5-C9C3-EB3825CD6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FA8D-3878-8B4B-B20A-2E34C67220F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5422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33406-A20A-398C-90B2-D895F2343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6B8D2-85D1-55AC-6AAB-65E7DA8AD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E5821-92AA-0F22-535D-F5A0F520F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2B428-AB21-474F-A4D9-979B203162CD}" type="datetimeFigureOut">
              <a:rPr lang="en-TW" smtClean="0"/>
              <a:t>2026/6/9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7452-30DA-1F7F-6F5B-83E49CE9A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75E65-E749-774C-B93C-D93354A5A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0FA8D-3878-8B4B-B20A-2E34C67220F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2117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FDCB-8EB2-51AF-F1C5-B7B3F945C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8780" y="1290797"/>
            <a:ext cx="10070432" cy="2387600"/>
          </a:xfrm>
        </p:spPr>
        <p:txBody>
          <a:bodyPr>
            <a:normAutofit/>
          </a:bodyPr>
          <a:lstStyle/>
          <a:p>
            <a:r>
              <a:rPr lang="en-TW" sz="4800" dirty="0"/>
              <a:t>RT distribution, test block design, instructions, and Spanish context setup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9A27A-69CF-982C-618E-663E9144B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83304"/>
            <a:ext cx="9144000" cy="1655762"/>
          </a:xfrm>
        </p:spPr>
        <p:txBody>
          <a:bodyPr/>
          <a:lstStyle/>
          <a:p>
            <a:r>
              <a:rPr lang="en-TW" dirty="0"/>
              <a:t>Jun 9, 2026</a:t>
            </a:r>
          </a:p>
        </p:txBody>
      </p:sp>
    </p:spTree>
    <p:extLst>
      <p:ext uri="{BB962C8B-B14F-4D97-AF65-F5344CB8AC3E}">
        <p14:creationId xmlns:p14="http://schemas.microsoft.com/office/powerpoint/2010/main" val="1286014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029"/>
            <a:ext cx="10515600" cy="1325563"/>
          </a:xfrm>
        </p:spPr>
        <p:txBody>
          <a:bodyPr/>
          <a:lstStyle/>
          <a:p>
            <a:r>
              <a:rPr lang="en-TW" dirty="0"/>
              <a:t>2026/06/05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F1A5B-13D3-35FF-171F-DB143AA72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150"/>
            <a:ext cx="10515600" cy="4351338"/>
          </a:xfrm>
        </p:spPr>
        <p:txBody>
          <a:bodyPr/>
          <a:lstStyle/>
          <a:p>
            <a:r>
              <a:rPr lang="en-US" dirty="0"/>
              <a:t>Full dataset: N=30</a:t>
            </a:r>
          </a:p>
          <a:p>
            <a:r>
              <a:rPr lang="en-US" dirty="0"/>
              <a:t>Revisit</a:t>
            </a:r>
            <a:r>
              <a:rPr lang="en-TW" dirty="0"/>
              <a:t> data exclusion criteria</a:t>
            </a:r>
          </a:p>
          <a:p>
            <a:pPr marL="0" indent="0">
              <a:buNone/>
            </a:pPr>
            <a:r>
              <a:rPr lang="en-TW" b="1" dirty="0">
                <a:solidFill>
                  <a:schemeClr val="accent5">
                    <a:lumMod val="75000"/>
                  </a:schemeClr>
                </a:solidFill>
              </a:rPr>
              <a:t>Participant-level exclusion: </a:t>
            </a:r>
            <a:r>
              <a:rPr lang="en-TW" dirty="0"/>
              <a:t>low accuracy in catch trials (N=2), over 15% trials with RTs &lt; 200ms (N=4), flat categorization curve (N=1), RT +-3D from group mean (N=0)</a:t>
            </a:r>
          </a:p>
          <a:p>
            <a:pPr marL="0" indent="0">
              <a:buNone/>
            </a:pPr>
            <a:r>
              <a:rPr lang="en-TW" b="1" dirty="0">
                <a:solidFill>
                  <a:schemeClr val="accent4">
                    <a:lumMod val="75000"/>
                  </a:schemeClr>
                </a:solidFill>
              </a:rPr>
              <a:t>Trial-level exclusion: </a:t>
            </a:r>
            <a:r>
              <a:rPr lang="en-TW" dirty="0"/>
              <a:t>RT&lt;200ms or &gt;3000ms (303 trials), RT +-3SD within participant (34 trials)</a:t>
            </a:r>
          </a:p>
          <a:p>
            <a:pPr marL="0" indent="0">
              <a:buNone/>
            </a:pPr>
            <a:endParaRPr lang="en-TW" dirty="0"/>
          </a:p>
          <a:p>
            <a:pPr marL="0" indent="0">
              <a:buNone/>
            </a:pPr>
            <a:r>
              <a:rPr lang="en-TW" dirty="0"/>
              <a:t>Total number of trials after exclusion: 6015 trials from 23 participants</a:t>
            </a:r>
          </a:p>
          <a:p>
            <a:pPr marL="0" indent="0">
              <a:buNone/>
            </a:pP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4241748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53"/>
            <a:ext cx="10515600" cy="1325563"/>
          </a:xfrm>
        </p:spPr>
        <p:txBody>
          <a:bodyPr/>
          <a:lstStyle/>
          <a:p>
            <a:r>
              <a:rPr lang="en-US" dirty="0"/>
              <a:t>R</a:t>
            </a:r>
            <a:r>
              <a:rPr lang="en-TW" dirty="0"/>
              <a:t>aw RT data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DE4FA-51BA-0F1A-1405-854846F72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38" y="1963036"/>
            <a:ext cx="5711695" cy="28992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9D14F4-4435-EADC-C40F-E0B2FE8CB307}"/>
              </a:ext>
            </a:extLst>
          </p:cNvPr>
          <p:cNvSpPr txBox="1"/>
          <p:nvPr/>
        </p:nvSpPr>
        <p:spPr>
          <a:xfrm>
            <a:off x="1740174" y="5203630"/>
            <a:ext cx="2962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B</a:t>
            </a:r>
            <a:r>
              <a:rPr lang="en-TW" sz="2400" dirty="0"/>
              <a:t>efore data exclusion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605173-DBB5-78A6-38B6-2125D29E1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312" y="2228464"/>
            <a:ext cx="5423229" cy="26047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4366198-8DD1-E290-4535-2A575C9C9EE5}"/>
              </a:ext>
            </a:extLst>
          </p:cNvPr>
          <p:cNvSpPr txBox="1"/>
          <p:nvPr/>
        </p:nvSpPr>
        <p:spPr>
          <a:xfrm>
            <a:off x="7692569" y="5203629"/>
            <a:ext cx="2962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After </a:t>
            </a:r>
            <a:r>
              <a:rPr lang="en-TW" sz="2400" dirty="0"/>
              <a:t>data exclusion</a:t>
            </a:r>
          </a:p>
        </p:txBody>
      </p:sp>
    </p:spTree>
    <p:extLst>
      <p:ext uri="{BB962C8B-B14F-4D97-AF65-F5344CB8AC3E}">
        <p14:creationId xmlns:p14="http://schemas.microsoft.com/office/powerpoint/2010/main" val="2873604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53"/>
            <a:ext cx="10515600" cy="1325563"/>
          </a:xfrm>
        </p:spPr>
        <p:txBody>
          <a:bodyPr/>
          <a:lstStyle/>
          <a:p>
            <a:r>
              <a:rPr lang="en-US" dirty="0"/>
              <a:t>Log </a:t>
            </a:r>
            <a:r>
              <a:rPr lang="en-TW" dirty="0"/>
              <a:t>RT data distribution after data exclusion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3D600C-0C0E-9DA4-6679-9C260C9B1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854" y="1665368"/>
            <a:ext cx="9400291" cy="447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48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G</a:t>
            </a:r>
            <a:r>
              <a:rPr lang="en-TW" sz="4000" dirty="0"/>
              <a:t>roup level results aggregated over word pairs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6D546E-9115-C5F8-360D-573AD28E9B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553818" y="1276905"/>
            <a:ext cx="8902148" cy="512509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CF93B7-F763-5D74-0809-9190EA892E0A}"/>
              </a:ext>
            </a:extLst>
          </p:cNvPr>
          <p:cNvCxnSpPr>
            <a:cxnSpLocks/>
          </p:cNvCxnSpPr>
          <p:nvPr/>
        </p:nvCxnSpPr>
        <p:spPr>
          <a:xfrm>
            <a:off x="7319269" y="1316661"/>
            <a:ext cx="0" cy="4706452"/>
          </a:xfrm>
          <a:prstGeom prst="line">
            <a:avLst/>
          </a:prstGeom>
          <a:ln w="762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0E98A65-433F-650C-CA9C-0D8C399A55EE}"/>
              </a:ext>
            </a:extLst>
          </p:cNvPr>
          <p:cNvSpPr txBox="1"/>
          <p:nvPr/>
        </p:nvSpPr>
        <p:spPr>
          <a:xfrm>
            <a:off x="6417292" y="6210921"/>
            <a:ext cx="21899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2800" b="1" dirty="0"/>
              <a:t>42.24657ms </a:t>
            </a:r>
          </a:p>
        </p:txBody>
      </p:sp>
    </p:spTree>
    <p:extLst>
      <p:ext uri="{BB962C8B-B14F-4D97-AF65-F5344CB8AC3E}">
        <p14:creationId xmlns:p14="http://schemas.microsoft.com/office/powerpoint/2010/main" val="2892527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Model prediction from Tan &amp; Jaeger (2025)</a:t>
            </a:r>
            <a:endParaRPr lang="en-TW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DA7844-DF9E-822E-A502-87A1B5B9D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8" y="1428851"/>
            <a:ext cx="10029825" cy="481478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43507A-FE22-1D95-B925-55F8A4949BBD}"/>
              </a:ext>
            </a:extLst>
          </p:cNvPr>
          <p:cNvCxnSpPr>
            <a:cxnSpLocks/>
          </p:cNvCxnSpPr>
          <p:nvPr/>
        </p:nvCxnSpPr>
        <p:spPr>
          <a:xfrm>
            <a:off x="6890643" y="1471607"/>
            <a:ext cx="0" cy="4006458"/>
          </a:xfrm>
          <a:prstGeom prst="line">
            <a:avLst/>
          </a:prstGeom>
          <a:ln w="762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289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G</a:t>
            </a:r>
            <a:r>
              <a:rPr lang="en-TW" sz="4000" dirty="0"/>
              <a:t>roup level results by different word pairs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BBF226-E389-8BCE-2272-021796D70A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336812" y="1058243"/>
            <a:ext cx="9677400" cy="552797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99C106-2ED1-F4D0-9245-3D05B72DC6A6}"/>
              </a:ext>
            </a:extLst>
          </p:cNvPr>
          <p:cNvCxnSpPr>
            <a:cxnSpLocks/>
          </p:cNvCxnSpPr>
          <p:nvPr/>
        </p:nvCxnSpPr>
        <p:spPr>
          <a:xfrm>
            <a:off x="6762678" y="1430142"/>
            <a:ext cx="0" cy="4421397"/>
          </a:xfrm>
          <a:prstGeom prst="line">
            <a:avLst/>
          </a:prstGeom>
          <a:ln w="381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086D246-F375-F7E7-4514-DD75D86322AB}"/>
              </a:ext>
            </a:extLst>
          </p:cNvPr>
          <p:cNvCxnSpPr>
            <a:cxnSpLocks/>
          </p:cNvCxnSpPr>
          <p:nvPr/>
        </p:nvCxnSpPr>
        <p:spPr>
          <a:xfrm>
            <a:off x="7132471" y="1430142"/>
            <a:ext cx="0" cy="4421397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2B2598-404C-3EC6-A7E7-58A274CB5386}"/>
              </a:ext>
            </a:extLst>
          </p:cNvPr>
          <p:cNvCxnSpPr>
            <a:cxnSpLocks/>
          </p:cNvCxnSpPr>
          <p:nvPr/>
        </p:nvCxnSpPr>
        <p:spPr>
          <a:xfrm>
            <a:off x="7251613" y="1430142"/>
            <a:ext cx="0" cy="4421397"/>
          </a:xfrm>
          <a:prstGeom prst="line">
            <a:avLst/>
          </a:prstGeom>
          <a:ln w="38100">
            <a:solidFill>
              <a:srgbClr val="FF7E7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02D460C-1ABA-C77F-3C13-5E6765100ADB}"/>
              </a:ext>
            </a:extLst>
          </p:cNvPr>
          <p:cNvSpPr txBox="1"/>
          <p:nvPr/>
        </p:nvSpPr>
        <p:spPr>
          <a:xfrm>
            <a:off x="7135464" y="1012604"/>
            <a:ext cx="149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7E79"/>
                </a:solidFill>
              </a:rPr>
              <a:t>d</a:t>
            </a:r>
            <a:r>
              <a:rPr lang="en-TW" b="1" dirty="0">
                <a:solidFill>
                  <a:srgbClr val="FF7E79"/>
                </a:solidFill>
              </a:rPr>
              <a:t>ill: 48.54ms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1481F4-BF5F-7778-619F-6B79E61948B4}"/>
              </a:ext>
            </a:extLst>
          </p:cNvPr>
          <p:cNvSpPr txBox="1"/>
          <p:nvPr/>
        </p:nvSpPr>
        <p:spPr>
          <a:xfrm>
            <a:off x="6999864" y="767962"/>
            <a:ext cx="1493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d</a:t>
            </a:r>
            <a:r>
              <a:rPr lang="en-TW" b="1" dirty="0">
                <a:solidFill>
                  <a:srgbClr val="00B0F0"/>
                </a:solidFill>
              </a:rPr>
              <a:t>ip: 45.32ms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6603E-FA32-C13C-B1EE-77780689B9AD}"/>
              </a:ext>
            </a:extLst>
          </p:cNvPr>
          <p:cNvSpPr txBox="1"/>
          <p:nvPr/>
        </p:nvSpPr>
        <p:spPr>
          <a:xfrm>
            <a:off x="5509866" y="1028726"/>
            <a:ext cx="148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d</a:t>
            </a:r>
            <a:r>
              <a:rPr lang="en-TW" b="1" dirty="0">
                <a:solidFill>
                  <a:schemeClr val="accent6"/>
                </a:solidFill>
              </a:rPr>
              <a:t>in: 33.42ms</a:t>
            </a:r>
          </a:p>
        </p:txBody>
      </p:sp>
    </p:spTree>
    <p:extLst>
      <p:ext uri="{BB962C8B-B14F-4D97-AF65-F5344CB8AC3E}">
        <p14:creationId xmlns:p14="http://schemas.microsoft.com/office/powerpoint/2010/main" val="790275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RT distribution in Tan &amp; Jaeger (2025)</a:t>
            </a:r>
            <a:endParaRPr lang="en-TW" sz="4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99771D-0957-6130-A218-6B7414966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138" y="1658352"/>
            <a:ext cx="8445838" cy="45258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F7F783-3C8F-188C-43E1-D63456B82E7A}"/>
              </a:ext>
            </a:extLst>
          </p:cNvPr>
          <p:cNvSpPr txBox="1"/>
          <p:nvPr/>
        </p:nvSpPr>
        <p:spPr>
          <a:xfrm>
            <a:off x="6641431" y="1858851"/>
            <a:ext cx="50773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N=25704</a:t>
            </a:r>
          </a:p>
          <a:p>
            <a:r>
              <a:rPr lang="en-US" sz="2400" dirty="0"/>
              <a:t>RT &gt; 3000ms: 480/25704 (1.86%)</a:t>
            </a:r>
          </a:p>
          <a:p>
            <a:r>
              <a:rPr lang="en-US" sz="2400" dirty="0"/>
              <a:t>RT &lt; 200ms: 0%</a:t>
            </a:r>
            <a:endParaRPr lang="en-TW" sz="2400" dirty="0"/>
          </a:p>
        </p:txBody>
      </p:sp>
    </p:spTree>
    <p:extLst>
      <p:ext uri="{BB962C8B-B14F-4D97-AF65-F5344CB8AC3E}">
        <p14:creationId xmlns:p14="http://schemas.microsoft.com/office/powerpoint/2010/main" val="1662108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RT distribution in Tan &amp; Jaeger (2025)</a:t>
            </a:r>
            <a:endParaRPr lang="en-TW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DF796-0997-7C1C-4C0D-409441C07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4" y="1078499"/>
            <a:ext cx="5366082" cy="28689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DA3138-E8B7-18E1-6B58-70DE87986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931" y="1882940"/>
            <a:ext cx="6519877" cy="39266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2A5C06-0DA1-37A3-36E9-FED8BCD51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133" y="4055695"/>
            <a:ext cx="5366082" cy="25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45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Decision on timeout limit</a:t>
            </a:r>
            <a:endParaRPr lang="en-TW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66FC6-9284-42DC-EBCA-F06B1D853AE7}"/>
              </a:ext>
            </a:extLst>
          </p:cNvPr>
          <p:cNvSpPr txBox="1"/>
          <p:nvPr/>
        </p:nvSpPr>
        <p:spPr>
          <a:xfrm>
            <a:off x="142875" y="1691323"/>
            <a:ext cx="119062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Instruction: respond as quickly and accurately as possible</a:t>
            </a:r>
          </a:p>
          <a:p>
            <a:r>
              <a:rPr lang="en-US" sz="2800" dirty="0"/>
              <a:t>S</a:t>
            </a:r>
            <a:r>
              <a:rPr lang="en-TW" sz="2800" dirty="0"/>
              <a:t>et up 5 second response window</a:t>
            </a:r>
          </a:p>
          <a:p>
            <a:r>
              <a:rPr lang="en-TW" sz="2800" dirty="0"/>
              <a:t>Exclude RTs&lt;200ms or RTs&gt;3000</a:t>
            </a:r>
          </a:p>
          <a:p>
            <a:r>
              <a:rPr lang="en-TW" sz="2800" dirty="0"/>
              <a:t>Exclude participant-level and trial-level outliers (+-3SD) </a:t>
            </a:r>
          </a:p>
          <a:p>
            <a:endParaRPr lang="en-TW" sz="2800" dirty="0"/>
          </a:p>
        </p:txBody>
      </p:sp>
    </p:spTree>
    <p:extLst>
      <p:ext uri="{BB962C8B-B14F-4D97-AF65-F5344CB8AC3E}">
        <p14:creationId xmlns:p14="http://schemas.microsoft.com/office/powerpoint/2010/main" val="253496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Test blocks design</a:t>
            </a:r>
            <a:endParaRPr lang="en-TW" sz="4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BE9AE-A73E-F7CF-227A-E52FB6D05059}"/>
              </a:ext>
            </a:extLst>
          </p:cNvPr>
          <p:cNvSpPr txBox="1"/>
          <p:nvPr/>
        </p:nvSpPr>
        <p:spPr>
          <a:xfrm>
            <a:off x="142875" y="1691323"/>
            <a:ext cx="119062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2800" dirty="0"/>
              <a:t>Create 18 lists based on the counterbalancing constrainsts in TJ2025</a:t>
            </a:r>
          </a:p>
          <a:p>
            <a:r>
              <a:rPr lang="en-TW" sz="2800" dirty="0"/>
              <a:t>72 tokens (3 continuum x 12 VOT step x 2 rep) - distributed across 6 test blocks</a:t>
            </a:r>
          </a:p>
          <a:p>
            <a:endParaRPr lang="en-TW" sz="2800" dirty="0"/>
          </a:p>
          <a:p>
            <a:pPr marL="514350" indent="-514350">
              <a:buAutoNum type="arabicParenBoth"/>
            </a:pPr>
            <a:r>
              <a:rPr lang="en-TW" sz="2800" dirty="0"/>
              <a:t>each block contain all 12 VOT steps</a:t>
            </a:r>
          </a:p>
          <a:p>
            <a:pPr marL="514350" indent="-514350">
              <a:buAutoNum type="arabicParenBoth"/>
            </a:pPr>
            <a:endParaRPr lang="en-TW" sz="2800" dirty="0"/>
          </a:p>
          <a:p>
            <a:r>
              <a:rPr lang="en-TW" sz="2800" dirty="0"/>
              <a:t>(2) tokens from each of the three continua occur equally frequently within block (four tokens from each continuum)</a:t>
            </a:r>
          </a:p>
          <a:p>
            <a:endParaRPr lang="en-TW" sz="2800" dirty="0"/>
          </a:p>
          <a:p>
            <a:r>
              <a:rPr lang="en-TW" sz="2800" dirty="0"/>
              <a:t>(3) the exact same token appears no more than once within block</a:t>
            </a:r>
          </a:p>
        </p:txBody>
      </p:sp>
    </p:spTree>
    <p:extLst>
      <p:ext uri="{BB962C8B-B14F-4D97-AF65-F5344CB8AC3E}">
        <p14:creationId xmlns:p14="http://schemas.microsoft.com/office/powerpoint/2010/main" val="4092480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Test blocks design</a:t>
            </a:r>
            <a:endParaRPr lang="en-TW" sz="4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2156DC-FEB1-9E95-9557-D810936DB7EF}"/>
              </a:ext>
            </a:extLst>
          </p:cNvPr>
          <p:cNvGraphicFramePr>
            <a:graphicFrameLocks noGrp="1"/>
          </p:cNvGraphicFramePr>
          <p:nvPr/>
        </p:nvGraphicFramePr>
        <p:xfrm>
          <a:off x="237490" y="1325563"/>
          <a:ext cx="11341109" cy="1817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393">
                  <a:extLst>
                    <a:ext uri="{9D8B030D-6E8A-4147-A177-3AD203B41FA5}">
                      <a16:colId xmlns:a16="http://schemas.microsoft.com/office/drawing/2014/main" val="387325987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296568851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331551344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726901398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526213709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13142039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88513823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44973025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10100834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49429434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28810262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046766609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802761757"/>
                    </a:ext>
                  </a:extLst>
                </a:gridCol>
              </a:tblGrid>
              <a:tr h="454449">
                <a:tc>
                  <a:txBody>
                    <a:bodyPr/>
                    <a:lstStyle/>
                    <a:p>
                      <a:endParaRPr lang="en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203290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36658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93041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851588"/>
                  </a:ext>
                </a:extLst>
              </a:tr>
            </a:tbl>
          </a:graphicData>
        </a:graphic>
      </p:graphicFrame>
      <p:pic>
        <p:nvPicPr>
          <p:cNvPr id="3074" name="Picture 2" descr="A Sudoku puzzle with 26 givens. | Download Scientific Diagram">
            <a:extLst>
              <a:ext uri="{FF2B5EF4-FFF2-40B4-BE49-F238E27FC236}">
                <a16:creationId xmlns:a16="http://schemas.microsoft.com/office/drawing/2014/main" id="{B7AED8C5-B776-817F-BCE7-8811B971D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0" y="3640902"/>
            <a:ext cx="29210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85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Test blocks design</a:t>
            </a:r>
            <a:endParaRPr lang="en-TW" sz="4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2156DC-FEB1-9E95-9557-D810936DB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122548"/>
              </p:ext>
            </p:extLst>
          </p:nvPr>
        </p:nvGraphicFramePr>
        <p:xfrm>
          <a:off x="237490" y="1325563"/>
          <a:ext cx="11341109" cy="1817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393">
                  <a:extLst>
                    <a:ext uri="{9D8B030D-6E8A-4147-A177-3AD203B41FA5}">
                      <a16:colId xmlns:a16="http://schemas.microsoft.com/office/drawing/2014/main" val="387325987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296568851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331551344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726901398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526213709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13142039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88513823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44973025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10100834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49429434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28810262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046766609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802761757"/>
                    </a:ext>
                  </a:extLst>
                </a:gridCol>
              </a:tblGrid>
              <a:tr h="454449">
                <a:tc>
                  <a:txBody>
                    <a:bodyPr/>
                    <a:lstStyle/>
                    <a:p>
                      <a:endParaRPr lang="en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203290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36658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93041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851588"/>
                  </a:ext>
                </a:extLst>
              </a:tr>
            </a:tbl>
          </a:graphicData>
        </a:graphic>
      </p:graphicFrame>
      <p:sp>
        <p:nvSpPr>
          <p:cNvPr id="4" name="Frame 3">
            <a:extLst>
              <a:ext uri="{FF2B5EF4-FFF2-40B4-BE49-F238E27FC236}">
                <a16:creationId xmlns:a16="http://schemas.microsoft.com/office/drawing/2014/main" id="{8FB7B593-B9CE-886F-3FFC-E065E5652EA9}"/>
              </a:ext>
            </a:extLst>
          </p:cNvPr>
          <p:cNvSpPr/>
          <p:nvPr/>
        </p:nvSpPr>
        <p:spPr>
          <a:xfrm>
            <a:off x="1120140" y="1325563"/>
            <a:ext cx="857250" cy="1817796"/>
          </a:xfrm>
          <a:prstGeom prst="frame">
            <a:avLst>
              <a:gd name="adj1" fmla="val 71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1C4D77F0-E007-F692-B387-F7E0A8C8717B}"/>
              </a:ext>
            </a:extLst>
          </p:cNvPr>
          <p:cNvSpPr/>
          <p:nvPr/>
        </p:nvSpPr>
        <p:spPr>
          <a:xfrm>
            <a:off x="2002790" y="1325563"/>
            <a:ext cx="857250" cy="1817796"/>
          </a:xfrm>
          <a:prstGeom prst="frame">
            <a:avLst>
              <a:gd name="adj1" fmla="val 71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FDD517F0-9A74-8DC3-1222-F4673B849BCD}"/>
              </a:ext>
            </a:extLst>
          </p:cNvPr>
          <p:cNvSpPr/>
          <p:nvPr/>
        </p:nvSpPr>
        <p:spPr>
          <a:xfrm>
            <a:off x="2885440" y="1325563"/>
            <a:ext cx="857250" cy="1817796"/>
          </a:xfrm>
          <a:prstGeom prst="frame">
            <a:avLst>
              <a:gd name="adj1" fmla="val 71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9D249A98-D170-AC9D-A8C8-F331FF620396}"/>
              </a:ext>
            </a:extLst>
          </p:cNvPr>
          <p:cNvSpPr/>
          <p:nvPr/>
        </p:nvSpPr>
        <p:spPr>
          <a:xfrm>
            <a:off x="3768090" y="1325563"/>
            <a:ext cx="857250" cy="1817796"/>
          </a:xfrm>
          <a:prstGeom prst="frame">
            <a:avLst>
              <a:gd name="adj1" fmla="val 71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B54381BE-B12A-AA65-2CE9-C91954C93316}"/>
              </a:ext>
            </a:extLst>
          </p:cNvPr>
          <p:cNvSpPr/>
          <p:nvPr/>
        </p:nvSpPr>
        <p:spPr>
          <a:xfrm>
            <a:off x="4650740" y="1325563"/>
            <a:ext cx="857250" cy="1817796"/>
          </a:xfrm>
          <a:prstGeom prst="frame">
            <a:avLst>
              <a:gd name="adj1" fmla="val 71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E0A3BC1A-481D-C150-D825-1F6009FCDDD9}"/>
              </a:ext>
            </a:extLst>
          </p:cNvPr>
          <p:cNvSpPr/>
          <p:nvPr/>
        </p:nvSpPr>
        <p:spPr>
          <a:xfrm>
            <a:off x="5533390" y="1325563"/>
            <a:ext cx="857250" cy="1817796"/>
          </a:xfrm>
          <a:prstGeom prst="frame">
            <a:avLst>
              <a:gd name="adj1" fmla="val 71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64154684-7256-B568-A67F-8BC128CF1C2C}"/>
              </a:ext>
            </a:extLst>
          </p:cNvPr>
          <p:cNvSpPr/>
          <p:nvPr/>
        </p:nvSpPr>
        <p:spPr>
          <a:xfrm>
            <a:off x="6372498" y="1325563"/>
            <a:ext cx="857250" cy="1817796"/>
          </a:xfrm>
          <a:prstGeom prst="frame">
            <a:avLst>
              <a:gd name="adj1" fmla="val 71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CFA75D0F-404D-471C-34E7-7DB1937929E7}"/>
              </a:ext>
            </a:extLst>
          </p:cNvPr>
          <p:cNvSpPr/>
          <p:nvPr/>
        </p:nvSpPr>
        <p:spPr>
          <a:xfrm>
            <a:off x="7255148" y="1325563"/>
            <a:ext cx="857250" cy="1817796"/>
          </a:xfrm>
          <a:prstGeom prst="frame">
            <a:avLst>
              <a:gd name="adj1" fmla="val 71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A67E6472-DB17-F4EA-999B-B4A84188718A}"/>
              </a:ext>
            </a:extLst>
          </p:cNvPr>
          <p:cNvSpPr/>
          <p:nvPr/>
        </p:nvSpPr>
        <p:spPr>
          <a:xfrm>
            <a:off x="8137798" y="1325563"/>
            <a:ext cx="857250" cy="1817796"/>
          </a:xfrm>
          <a:prstGeom prst="frame">
            <a:avLst>
              <a:gd name="adj1" fmla="val 71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CC012171-AAA0-89D3-0637-99B6A79E5A14}"/>
              </a:ext>
            </a:extLst>
          </p:cNvPr>
          <p:cNvSpPr/>
          <p:nvPr/>
        </p:nvSpPr>
        <p:spPr>
          <a:xfrm>
            <a:off x="9020448" y="1325563"/>
            <a:ext cx="857250" cy="1817796"/>
          </a:xfrm>
          <a:prstGeom prst="frame">
            <a:avLst>
              <a:gd name="adj1" fmla="val 71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6BD48B46-E943-19FA-E5C5-D7D91851C73C}"/>
              </a:ext>
            </a:extLst>
          </p:cNvPr>
          <p:cNvSpPr/>
          <p:nvPr/>
        </p:nvSpPr>
        <p:spPr>
          <a:xfrm>
            <a:off x="9903098" y="1325563"/>
            <a:ext cx="857250" cy="1817796"/>
          </a:xfrm>
          <a:prstGeom prst="frame">
            <a:avLst>
              <a:gd name="adj1" fmla="val 71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B62DB0EB-45EA-6FF9-0452-809B5D7C2A71}"/>
              </a:ext>
            </a:extLst>
          </p:cNvPr>
          <p:cNvSpPr/>
          <p:nvPr/>
        </p:nvSpPr>
        <p:spPr>
          <a:xfrm>
            <a:off x="10785748" y="1325563"/>
            <a:ext cx="857250" cy="1817796"/>
          </a:xfrm>
          <a:prstGeom prst="frame">
            <a:avLst>
              <a:gd name="adj1" fmla="val 71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pic>
        <p:nvPicPr>
          <p:cNvPr id="1026" name="Picture 2" descr="Shuffle - Free ui icons">
            <a:extLst>
              <a:ext uri="{FF2B5EF4-FFF2-40B4-BE49-F238E27FC236}">
                <a16:creationId xmlns:a16="http://schemas.microsoft.com/office/drawing/2014/main" id="{8285A62F-AA38-3D4E-D6AD-DDEDB8232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273" y="124418"/>
            <a:ext cx="1076725" cy="10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520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Test blocks design</a:t>
            </a:r>
            <a:endParaRPr lang="en-TW" sz="4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2156DC-FEB1-9E95-9557-D810936DB7EF}"/>
              </a:ext>
            </a:extLst>
          </p:cNvPr>
          <p:cNvGraphicFramePr>
            <a:graphicFrameLocks noGrp="1"/>
          </p:cNvGraphicFramePr>
          <p:nvPr/>
        </p:nvGraphicFramePr>
        <p:xfrm>
          <a:off x="237490" y="1325563"/>
          <a:ext cx="11341109" cy="1817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393">
                  <a:extLst>
                    <a:ext uri="{9D8B030D-6E8A-4147-A177-3AD203B41FA5}">
                      <a16:colId xmlns:a16="http://schemas.microsoft.com/office/drawing/2014/main" val="387325987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296568851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331551344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726901398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526213709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13142039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88513823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44973025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10100834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49429434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28810262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046766609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802761757"/>
                    </a:ext>
                  </a:extLst>
                </a:gridCol>
              </a:tblGrid>
              <a:tr h="454449">
                <a:tc>
                  <a:txBody>
                    <a:bodyPr/>
                    <a:lstStyle/>
                    <a:p>
                      <a:endParaRPr lang="en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203290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36658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93041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851588"/>
                  </a:ext>
                </a:extLst>
              </a:tr>
            </a:tbl>
          </a:graphicData>
        </a:graphic>
      </p:graphicFrame>
      <p:sp>
        <p:nvSpPr>
          <p:cNvPr id="4" name="Frame 3">
            <a:extLst>
              <a:ext uri="{FF2B5EF4-FFF2-40B4-BE49-F238E27FC236}">
                <a16:creationId xmlns:a16="http://schemas.microsoft.com/office/drawing/2014/main" id="{8FB7B593-B9CE-886F-3FFC-E065E5652EA9}"/>
              </a:ext>
            </a:extLst>
          </p:cNvPr>
          <p:cNvSpPr/>
          <p:nvPr/>
        </p:nvSpPr>
        <p:spPr>
          <a:xfrm>
            <a:off x="196850" y="1767840"/>
            <a:ext cx="11405508" cy="487680"/>
          </a:xfrm>
          <a:prstGeom prst="frame">
            <a:avLst>
              <a:gd name="adj1" fmla="val 12966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pic>
        <p:nvPicPr>
          <p:cNvPr id="1026" name="Picture 2" descr="Shuffle - Free ui icons">
            <a:extLst>
              <a:ext uri="{FF2B5EF4-FFF2-40B4-BE49-F238E27FC236}">
                <a16:creationId xmlns:a16="http://schemas.microsoft.com/office/drawing/2014/main" id="{8285A62F-AA38-3D4E-D6AD-DDEDB8232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273" y="124418"/>
            <a:ext cx="1076725" cy="10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ame 10">
            <a:extLst>
              <a:ext uri="{FF2B5EF4-FFF2-40B4-BE49-F238E27FC236}">
                <a16:creationId xmlns:a16="http://schemas.microsoft.com/office/drawing/2014/main" id="{D36C1BD9-FBE7-EE0F-B9AC-01627F1692F8}"/>
              </a:ext>
            </a:extLst>
          </p:cNvPr>
          <p:cNvSpPr/>
          <p:nvPr/>
        </p:nvSpPr>
        <p:spPr>
          <a:xfrm>
            <a:off x="196850" y="2221910"/>
            <a:ext cx="11405508" cy="487680"/>
          </a:xfrm>
          <a:prstGeom prst="frame">
            <a:avLst>
              <a:gd name="adj1" fmla="val 12966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7" name="Frame 16">
            <a:extLst>
              <a:ext uri="{FF2B5EF4-FFF2-40B4-BE49-F238E27FC236}">
                <a16:creationId xmlns:a16="http://schemas.microsoft.com/office/drawing/2014/main" id="{5C7C8D6D-2D43-AA5B-29A4-F6926FB85F65}"/>
              </a:ext>
            </a:extLst>
          </p:cNvPr>
          <p:cNvSpPr/>
          <p:nvPr/>
        </p:nvSpPr>
        <p:spPr>
          <a:xfrm>
            <a:off x="196986" y="2677281"/>
            <a:ext cx="11405508" cy="487680"/>
          </a:xfrm>
          <a:prstGeom prst="frame">
            <a:avLst>
              <a:gd name="adj1" fmla="val 12966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184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Test blocks design</a:t>
            </a:r>
            <a:endParaRPr lang="en-TW" sz="4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2156DC-FEB1-9E95-9557-D810936DB7EF}"/>
              </a:ext>
            </a:extLst>
          </p:cNvPr>
          <p:cNvGraphicFramePr>
            <a:graphicFrameLocks noGrp="1"/>
          </p:cNvGraphicFramePr>
          <p:nvPr/>
        </p:nvGraphicFramePr>
        <p:xfrm>
          <a:off x="237490" y="1325563"/>
          <a:ext cx="11341109" cy="1817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393">
                  <a:extLst>
                    <a:ext uri="{9D8B030D-6E8A-4147-A177-3AD203B41FA5}">
                      <a16:colId xmlns:a16="http://schemas.microsoft.com/office/drawing/2014/main" val="387325987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296568851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331551344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726901398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526213709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13142039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88513823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44973025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10100834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49429434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28810262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046766609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802761757"/>
                    </a:ext>
                  </a:extLst>
                </a:gridCol>
              </a:tblGrid>
              <a:tr h="454449">
                <a:tc>
                  <a:txBody>
                    <a:bodyPr/>
                    <a:lstStyle/>
                    <a:p>
                      <a:endParaRPr lang="en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203290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36658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93041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851588"/>
                  </a:ext>
                </a:extLst>
              </a:tr>
            </a:tbl>
          </a:graphicData>
        </a:graphic>
      </p:graphicFrame>
      <p:pic>
        <p:nvPicPr>
          <p:cNvPr id="1026" name="Picture 2" descr="Shuffle - Free ui icons">
            <a:extLst>
              <a:ext uri="{FF2B5EF4-FFF2-40B4-BE49-F238E27FC236}">
                <a16:creationId xmlns:a16="http://schemas.microsoft.com/office/drawing/2014/main" id="{8285A62F-AA38-3D4E-D6AD-DDEDB8232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273" y="124418"/>
            <a:ext cx="1076725" cy="10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7ED98EB-9366-820B-6823-FD3778CEC80E}"/>
              </a:ext>
            </a:extLst>
          </p:cNvPr>
          <p:cNvSpPr/>
          <p:nvPr/>
        </p:nvSpPr>
        <p:spPr>
          <a:xfrm>
            <a:off x="1120877" y="1784555"/>
            <a:ext cx="855406" cy="44245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FE2050-8C94-1183-837E-B626EC9F972B}"/>
              </a:ext>
            </a:extLst>
          </p:cNvPr>
          <p:cNvSpPr/>
          <p:nvPr/>
        </p:nvSpPr>
        <p:spPr>
          <a:xfrm>
            <a:off x="1991031" y="2680622"/>
            <a:ext cx="855406" cy="44245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A5BB34-5E7D-E72F-A230-EB05E10C976D}"/>
              </a:ext>
            </a:extLst>
          </p:cNvPr>
          <p:cNvSpPr/>
          <p:nvPr/>
        </p:nvSpPr>
        <p:spPr>
          <a:xfrm>
            <a:off x="2861185" y="2238171"/>
            <a:ext cx="855406" cy="44245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7E7D6-FCDB-5DD2-24FF-2EED5FA0B25A}"/>
              </a:ext>
            </a:extLst>
          </p:cNvPr>
          <p:cNvSpPr/>
          <p:nvPr/>
        </p:nvSpPr>
        <p:spPr>
          <a:xfrm>
            <a:off x="3744572" y="1792010"/>
            <a:ext cx="855406" cy="44245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C7218-DA13-2133-C69F-E98AF2FDF5A3}"/>
              </a:ext>
            </a:extLst>
          </p:cNvPr>
          <p:cNvSpPr/>
          <p:nvPr/>
        </p:nvSpPr>
        <p:spPr>
          <a:xfrm>
            <a:off x="4599978" y="2234461"/>
            <a:ext cx="855406" cy="44245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6948BB-C33E-EEEE-237A-84C7E473DDCA}"/>
              </a:ext>
            </a:extLst>
          </p:cNvPr>
          <p:cNvSpPr/>
          <p:nvPr/>
        </p:nvSpPr>
        <p:spPr>
          <a:xfrm>
            <a:off x="5480341" y="2700908"/>
            <a:ext cx="855406" cy="44245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676694-8899-AC12-16D9-E7C014A4CC92}"/>
              </a:ext>
            </a:extLst>
          </p:cNvPr>
          <p:cNvSpPr/>
          <p:nvPr/>
        </p:nvSpPr>
        <p:spPr>
          <a:xfrm>
            <a:off x="6364486" y="1802153"/>
            <a:ext cx="855406" cy="44245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865235-ACCE-E948-36D9-0B48AF7CACBC}"/>
              </a:ext>
            </a:extLst>
          </p:cNvPr>
          <p:cNvSpPr/>
          <p:nvPr/>
        </p:nvSpPr>
        <p:spPr>
          <a:xfrm>
            <a:off x="7236906" y="2227006"/>
            <a:ext cx="855406" cy="44245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C20530-4229-A594-6188-C68B31F3D723}"/>
              </a:ext>
            </a:extLst>
          </p:cNvPr>
          <p:cNvSpPr/>
          <p:nvPr/>
        </p:nvSpPr>
        <p:spPr>
          <a:xfrm>
            <a:off x="8089288" y="2680622"/>
            <a:ext cx="855406" cy="44245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947E35-7DFB-1BB2-C082-6DB92900535D}"/>
              </a:ext>
            </a:extLst>
          </p:cNvPr>
          <p:cNvSpPr/>
          <p:nvPr/>
        </p:nvSpPr>
        <p:spPr>
          <a:xfrm>
            <a:off x="8974190" y="1781867"/>
            <a:ext cx="855406" cy="44245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0ABDF-D610-2A5B-9772-9E672C790673}"/>
              </a:ext>
            </a:extLst>
          </p:cNvPr>
          <p:cNvSpPr/>
          <p:nvPr/>
        </p:nvSpPr>
        <p:spPr>
          <a:xfrm>
            <a:off x="9832620" y="2680622"/>
            <a:ext cx="855406" cy="44245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5C7E6E-8222-F7EA-F567-A3E5199857DC}"/>
              </a:ext>
            </a:extLst>
          </p:cNvPr>
          <p:cNvSpPr/>
          <p:nvPr/>
        </p:nvSpPr>
        <p:spPr>
          <a:xfrm>
            <a:off x="10706428" y="2234461"/>
            <a:ext cx="855406" cy="44245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5F62B4-054F-7786-D2BC-E56F1F93C8D4}"/>
              </a:ext>
            </a:extLst>
          </p:cNvPr>
          <p:cNvSpPr/>
          <p:nvPr/>
        </p:nvSpPr>
        <p:spPr>
          <a:xfrm>
            <a:off x="1126424" y="2234460"/>
            <a:ext cx="855406" cy="442451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04042D-8523-1972-9B5F-16DA09CC0062}"/>
              </a:ext>
            </a:extLst>
          </p:cNvPr>
          <p:cNvSpPr/>
          <p:nvPr/>
        </p:nvSpPr>
        <p:spPr>
          <a:xfrm>
            <a:off x="1991031" y="1781867"/>
            <a:ext cx="855406" cy="442451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4355D3-90C5-46F6-555A-89F06E464D5A}"/>
              </a:ext>
            </a:extLst>
          </p:cNvPr>
          <p:cNvSpPr/>
          <p:nvPr/>
        </p:nvSpPr>
        <p:spPr>
          <a:xfrm>
            <a:off x="2855638" y="2700907"/>
            <a:ext cx="855406" cy="442451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CAFCAC-859A-C5AB-2BB5-B5CA1741D1D9}"/>
              </a:ext>
            </a:extLst>
          </p:cNvPr>
          <p:cNvSpPr/>
          <p:nvPr/>
        </p:nvSpPr>
        <p:spPr>
          <a:xfrm>
            <a:off x="3741990" y="2695403"/>
            <a:ext cx="855406" cy="442451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91EA69-F6B4-ADDE-6CFC-3C7DD9A20C60}"/>
              </a:ext>
            </a:extLst>
          </p:cNvPr>
          <p:cNvSpPr/>
          <p:nvPr/>
        </p:nvSpPr>
        <p:spPr>
          <a:xfrm>
            <a:off x="4597145" y="1782762"/>
            <a:ext cx="855406" cy="442451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865CF0-CCE7-6A24-A201-C3AD857A9AD4}"/>
              </a:ext>
            </a:extLst>
          </p:cNvPr>
          <p:cNvSpPr/>
          <p:nvPr/>
        </p:nvSpPr>
        <p:spPr>
          <a:xfrm>
            <a:off x="5482047" y="2234460"/>
            <a:ext cx="855406" cy="442451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41D240-4093-C7FB-144A-EFA235ED0724}"/>
              </a:ext>
            </a:extLst>
          </p:cNvPr>
          <p:cNvSpPr/>
          <p:nvPr/>
        </p:nvSpPr>
        <p:spPr>
          <a:xfrm>
            <a:off x="6352007" y="2695403"/>
            <a:ext cx="855406" cy="442451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77CEBE-AEBE-D618-1D40-24EFC5754742}"/>
              </a:ext>
            </a:extLst>
          </p:cNvPr>
          <p:cNvSpPr/>
          <p:nvPr/>
        </p:nvSpPr>
        <p:spPr>
          <a:xfrm>
            <a:off x="7232755" y="1782234"/>
            <a:ext cx="855406" cy="442451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1B6A62-7E81-31EB-B49E-0F759CB9AD6C}"/>
              </a:ext>
            </a:extLst>
          </p:cNvPr>
          <p:cNvSpPr/>
          <p:nvPr/>
        </p:nvSpPr>
        <p:spPr>
          <a:xfrm>
            <a:off x="8092312" y="2239066"/>
            <a:ext cx="855406" cy="442451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E3CE21-C21A-C958-C370-986DC368C2B2}"/>
              </a:ext>
            </a:extLst>
          </p:cNvPr>
          <p:cNvSpPr/>
          <p:nvPr/>
        </p:nvSpPr>
        <p:spPr>
          <a:xfrm>
            <a:off x="8960762" y="2238171"/>
            <a:ext cx="855406" cy="442451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F90478-AC65-A371-9373-0279059AF6E2}"/>
              </a:ext>
            </a:extLst>
          </p:cNvPr>
          <p:cNvSpPr/>
          <p:nvPr/>
        </p:nvSpPr>
        <p:spPr>
          <a:xfrm>
            <a:off x="9847368" y="1781867"/>
            <a:ext cx="855406" cy="442451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E35321-88E4-6516-D677-2540325113A9}"/>
              </a:ext>
            </a:extLst>
          </p:cNvPr>
          <p:cNvSpPr/>
          <p:nvPr/>
        </p:nvSpPr>
        <p:spPr>
          <a:xfrm>
            <a:off x="10717522" y="2695370"/>
            <a:ext cx="855406" cy="442451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79FCB1-FA26-EF60-A899-28865A67FC0A}"/>
              </a:ext>
            </a:extLst>
          </p:cNvPr>
          <p:cNvSpPr/>
          <p:nvPr/>
        </p:nvSpPr>
        <p:spPr>
          <a:xfrm>
            <a:off x="1117853" y="2680622"/>
            <a:ext cx="855406" cy="442451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055975-E85A-AE02-5D4D-086EE3BC6EC7}"/>
              </a:ext>
            </a:extLst>
          </p:cNvPr>
          <p:cNvSpPr/>
          <p:nvPr/>
        </p:nvSpPr>
        <p:spPr>
          <a:xfrm>
            <a:off x="1991725" y="2244604"/>
            <a:ext cx="855406" cy="442451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5B3B96-7D27-EF14-8614-F9BE3439953A}"/>
              </a:ext>
            </a:extLst>
          </p:cNvPr>
          <p:cNvSpPr/>
          <p:nvPr/>
        </p:nvSpPr>
        <p:spPr>
          <a:xfrm>
            <a:off x="2850588" y="1802152"/>
            <a:ext cx="855406" cy="442451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0FE9BC-B6F5-9EEC-9747-1F8D709364E7}"/>
              </a:ext>
            </a:extLst>
          </p:cNvPr>
          <p:cNvSpPr/>
          <p:nvPr/>
        </p:nvSpPr>
        <p:spPr>
          <a:xfrm>
            <a:off x="3732538" y="2243706"/>
            <a:ext cx="855406" cy="442451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B2EC72A-1202-7368-3C43-56E2F8A9CEA0}"/>
              </a:ext>
            </a:extLst>
          </p:cNvPr>
          <p:cNvSpPr/>
          <p:nvPr/>
        </p:nvSpPr>
        <p:spPr>
          <a:xfrm>
            <a:off x="4601990" y="2700907"/>
            <a:ext cx="855406" cy="442451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7A49B3-8BE0-DEAF-66F8-CD40811E6127}"/>
              </a:ext>
            </a:extLst>
          </p:cNvPr>
          <p:cNvSpPr/>
          <p:nvPr/>
        </p:nvSpPr>
        <p:spPr>
          <a:xfrm>
            <a:off x="5487810" y="1787385"/>
            <a:ext cx="855406" cy="442451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B96F9E-A661-B623-2A91-3F2308C0C3BA}"/>
              </a:ext>
            </a:extLst>
          </p:cNvPr>
          <p:cNvSpPr/>
          <p:nvPr/>
        </p:nvSpPr>
        <p:spPr>
          <a:xfrm>
            <a:off x="6359196" y="2243705"/>
            <a:ext cx="855406" cy="442451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D995B0-F04A-8EB7-3DB5-D82F04DE074E}"/>
              </a:ext>
            </a:extLst>
          </p:cNvPr>
          <p:cNvSpPr/>
          <p:nvPr/>
        </p:nvSpPr>
        <p:spPr>
          <a:xfrm>
            <a:off x="7229350" y="2700906"/>
            <a:ext cx="855406" cy="442451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45FA6FF-D72D-CF43-B849-D4B52557FEDF}"/>
              </a:ext>
            </a:extLst>
          </p:cNvPr>
          <p:cNvSpPr/>
          <p:nvPr/>
        </p:nvSpPr>
        <p:spPr>
          <a:xfrm>
            <a:off x="8098365" y="1786506"/>
            <a:ext cx="855406" cy="442451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F09AB7-4F27-3908-899E-98B8E175D01D}"/>
              </a:ext>
            </a:extLst>
          </p:cNvPr>
          <p:cNvSpPr/>
          <p:nvPr/>
        </p:nvSpPr>
        <p:spPr>
          <a:xfrm>
            <a:off x="8968013" y="2686156"/>
            <a:ext cx="855406" cy="442451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E1BEDC0-BB04-05A9-8474-67CC47C62319}"/>
              </a:ext>
            </a:extLst>
          </p:cNvPr>
          <p:cNvSpPr/>
          <p:nvPr/>
        </p:nvSpPr>
        <p:spPr>
          <a:xfrm>
            <a:off x="9841191" y="2243705"/>
            <a:ext cx="855406" cy="442451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017F02-B044-381A-B986-3773B3081385}"/>
              </a:ext>
            </a:extLst>
          </p:cNvPr>
          <p:cNvSpPr/>
          <p:nvPr/>
        </p:nvSpPr>
        <p:spPr>
          <a:xfrm>
            <a:off x="10709895" y="1782762"/>
            <a:ext cx="855406" cy="442451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69684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Test blocks design</a:t>
            </a:r>
            <a:endParaRPr lang="en-TW" sz="4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2156DC-FEB1-9E95-9557-D810936DB7EF}"/>
              </a:ext>
            </a:extLst>
          </p:cNvPr>
          <p:cNvGraphicFramePr>
            <a:graphicFrameLocks noGrp="1"/>
          </p:cNvGraphicFramePr>
          <p:nvPr/>
        </p:nvGraphicFramePr>
        <p:xfrm>
          <a:off x="237490" y="1325563"/>
          <a:ext cx="11341109" cy="1817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393">
                  <a:extLst>
                    <a:ext uri="{9D8B030D-6E8A-4147-A177-3AD203B41FA5}">
                      <a16:colId xmlns:a16="http://schemas.microsoft.com/office/drawing/2014/main" val="387325987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296568851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331551344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726901398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526213709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13142039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88513823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44973025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10100834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49429434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28810262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046766609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802761757"/>
                    </a:ext>
                  </a:extLst>
                </a:gridCol>
              </a:tblGrid>
              <a:tr h="454449">
                <a:tc>
                  <a:txBody>
                    <a:bodyPr/>
                    <a:lstStyle/>
                    <a:p>
                      <a:endParaRPr lang="en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203290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36658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93041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851588"/>
                  </a:ext>
                </a:extLst>
              </a:tr>
            </a:tbl>
          </a:graphicData>
        </a:graphic>
      </p:graphicFrame>
      <p:pic>
        <p:nvPicPr>
          <p:cNvPr id="1026" name="Picture 2" descr="Shuffle - Free ui icons">
            <a:extLst>
              <a:ext uri="{FF2B5EF4-FFF2-40B4-BE49-F238E27FC236}">
                <a16:creationId xmlns:a16="http://schemas.microsoft.com/office/drawing/2014/main" id="{8285A62F-AA38-3D4E-D6AD-DDEDB8232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273" y="124418"/>
            <a:ext cx="1076725" cy="10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ame 3">
            <a:extLst>
              <a:ext uri="{FF2B5EF4-FFF2-40B4-BE49-F238E27FC236}">
                <a16:creationId xmlns:a16="http://schemas.microsoft.com/office/drawing/2014/main" id="{BB597CB4-8569-031C-D276-BD1661C2BBE1}"/>
              </a:ext>
            </a:extLst>
          </p:cNvPr>
          <p:cNvSpPr/>
          <p:nvPr/>
        </p:nvSpPr>
        <p:spPr>
          <a:xfrm>
            <a:off x="1120140" y="1325563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FFBE11D2-D37F-55E1-EF64-F049CBFCB345}"/>
              </a:ext>
            </a:extLst>
          </p:cNvPr>
          <p:cNvSpPr/>
          <p:nvPr/>
        </p:nvSpPr>
        <p:spPr>
          <a:xfrm>
            <a:off x="2007992" y="1325563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7" name="Frame 16">
            <a:extLst>
              <a:ext uri="{FF2B5EF4-FFF2-40B4-BE49-F238E27FC236}">
                <a16:creationId xmlns:a16="http://schemas.microsoft.com/office/drawing/2014/main" id="{6516AA35-E565-4319-1709-2F9555FBAAE9}"/>
              </a:ext>
            </a:extLst>
          </p:cNvPr>
          <p:cNvSpPr/>
          <p:nvPr/>
        </p:nvSpPr>
        <p:spPr>
          <a:xfrm>
            <a:off x="2879990" y="1325563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43" name="Frame 42">
            <a:extLst>
              <a:ext uri="{FF2B5EF4-FFF2-40B4-BE49-F238E27FC236}">
                <a16:creationId xmlns:a16="http://schemas.microsoft.com/office/drawing/2014/main" id="{46492845-120B-4E0B-407C-5E610A0310A6}"/>
              </a:ext>
            </a:extLst>
          </p:cNvPr>
          <p:cNvSpPr/>
          <p:nvPr/>
        </p:nvSpPr>
        <p:spPr>
          <a:xfrm>
            <a:off x="3738168" y="1325563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44" name="Frame 43">
            <a:extLst>
              <a:ext uri="{FF2B5EF4-FFF2-40B4-BE49-F238E27FC236}">
                <a16:creationId xmlns:a16="http://schemas.microsoft.com/office/drawing/2014/main" id="{61D0C70F-87C5-90B8-F836-D7EBD8E77E78}"/>
              </a:ext>
            </a:extLst>
          </p:cNvPr>
          <p:cNvSpPr/>
          <p:nvPr/>
        </p:nvSpPr>
        <p:spPr>
          <a:xfrm>
            <a:off x="4626020" y="1325563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45" name="Frame 44">
            <a:extLst>
              <a:ext uri="{FF2B5EF4-FFF2-40B4-BE49-F238E27FC236}">
                <a16:creationId xmlns:a16="http://schemas.microsoft.com/office/drawing/2014/main" id="{D2B1D42E-8216-DB79-3EB9-94F80602B14E}"/>
              </a:ext>
            </a:extLst>
          </p:cNvPr>
          <p:cNvSpPr/>
          <p:nvPr/>
        </p:nvSpPr>
        <p:spPr>
          <a:xfrm>
            <a:off x="5498018" y="1325563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46" name="Frame 45">
            <a:extLst>
              <a:ext uri="{FF2B5EF4-FFF2-40B4-BE49-F238E27FC236}">
                <a16:creationId xmlns:a16="http://schemas.microsoft.com/office/drawing/2014/main" id="{A149656E-AC70-0D69-45A7-EDB359EF4D3D}"/>
              </a:ext>
            </a:extLst>
          </p:cNvPr>
          <p:cNvSpPr/>
          <p:nvPr/>
        </p:nvSpPr>
        <p:spPr>
          <a:xfrm>
            <a:off x="6367069" y="1331225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47" name="Frame 46">
            <a:extLst>
              <a:ext uri="{FF2B5EF4-FFF2-40B4-BE49-F238E27FC236}">
                <a16:creationId xmlns:a16="http://schemas.microsoft.com/office/drawing/2014/main" id="{DFE532B7-94B6-17CC-7C95-2F985BFF99C6}"/>
              </a:ext>
            </a:extLst>
          </p:cNvPr>
          <p:cNvSpPr/>
          <p:nvPr/>
        </p:nvSpPr>
        <p:spPr>
          <a:xfrm>
            <a:off x="7254921" y="1331225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48" name="Frame 47">
            <a:extLst>
              <a:ext uri="{FF2B5EF4-FFF2-40B4-BE49-F238E27FC236}">
                <a16:creationId xmlns:a16="http://schemas.microsoft.com/office/drawing/2014/main" id="{2ED7D615-05D6-C506-44AD-5AA6AF6DC34C}"/>
              </a:ext>
            </a:extLst>
          </p:cNvPr>
          <p:cNvSpPr/>
          <p:nvPr/>
        </p:nvSpPr>
        <p:spPr>
          <a:xfrm>
            <a:off x="8126919" y="1331225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49" name="Frame 48">
            <a:extLst>
              <a:ext uri="{FF2B5EF4-FFF2-40B4-BE49-F238E27FC236}">
                <a16:creationId xmlns:a16="http://schemas.microsoft.com/office/drawing/2014/main" id="{C263100D-0784-3D88-2C34-2BCA28B3030B}"/>
              </a:ext>
            </a:extLst>
          </p:cNvPr>
          <p:cNvSpPr/>
          <p:nvPr/>
        </p:nvSpPr>
        <p:spPr>
          <a:xfrm>
            <a:off x="8985097" y="1331225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50" name="Frame 49">
            <a:extLst>
              <a:ext uri="{FF2B5EF4-FFF2-40B4-BE49-F238E27FC236}">
                <a16:creationId xmlns:a16="http://schemas.microsoft.com/office/drawing/2014/main" id="{96B01DDE-F268-EF93-C725-6AB3C0C2A752}"/>
              </a:ext>
            </a:extLst>
          </p:cNvPr>
          <p:cNvSpPr/>
          <p:nvPr/>
        </p:nvSpPr>
        <p:spPr>
          <a:xfrm>
            <a:off x="9872949" y="1331225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51" name="Frame 50">
            <a:extLst>
              <a:ext uri="{FF2B5EF4-FFF2-40B4-BE49-F238E27FC236}">
                <a16:creationId xmlns:a16="http://schemas.microsoft.com/office/drawing/2014/main" id="{E84EA492-57D6-D751-E33C-3372732C21F2}"/>
              </a:ext>
            </a:extLst>
          </p:cNvPr>
          <p:cNvSpPr/>
          <p:nvPr/>
        </p:nvSpPr>
        <p:spPr>
          <a:xfrm>
            <a:off x="10744947" y="1331225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867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Test blocks design</a:t>
            </a:r>
            <a:endParaRPr lang="en-TW" sz="4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2156DC-FEB1-9E95-9557-D810936DB7EF}"/>
              </a:ext>
            </a:extLst>
          </p:cNvPr>
          <p:cNvGraphicFramePr>
            <a:graphicFrameLocks noGrp="1"/>
          </p:cNvGraphicFramePr>
          <p:nvPr/>
        </p:nvGraphicFramePr>
        <p:xfrm>
          <a:off x="237490" y="1325563"/>
          <a:ext cx="11341109" cy="1817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393">
                  <a:extLst>
                    <a:ext uri="{9D8B030D-6E8A-4147-A177-3AD203B41FA5}">
                      <a16:colId xmlns:a16="http://schemas.microsoft.com/office/drawing/2014/main" val="387325987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296568851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331551344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726901398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526213709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13142039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88513823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44973025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10100834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49429434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28810262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046766609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802761757"/>
                    </a:ext>
                  </a:extLst>
                </a:gridCol>
              </a:tblGrid>
              <a:tr h="454449">
                <a:tc>
                  <a:txBody>
                    <a:bodyPr/>
                    <a:lstStyle/>
                    <a:p>
                      <a:endParaRPr lang="en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203290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36658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93041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851588"/>
                  </a:ext>
                </a:extLst>
              </a:tr>
            </a:tbl>
          </a:graphicData>
        </a:graphic>
      </p:graphicFrame>
      <p:pic>
        <p:nvPicPr>
          <p:cNvPr id="1026" name="Picture 2" descr="Shuffle - Free ui icons">
            <a:extLst>
              <a:ext uri="{FF2B5EF4-FFF2-40B4-BE49-F238E27FC236}">
                <a16:creationId xmlns:a16="http://schemas.microsoft.com/office/drawing/2014/main" id="{8285A62F-AA38-3D4E-D6AD-DDEDB8232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273" y="124418"/>
            <a:ext cx="1076725" cy="10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ame 3">
            <a:extLst>
              <a:ext uri="{FF2B5EF4-FFF2-40B4-BE49-F238E27FC236}">
                <a16:creationId xmlns:a16="http://schemas.microsoft.com/office/drawing/2014/main" id="{BB597CB4-8569-031C-D276-BD1661C2BBE1}"/>
              </a:ext>
            </a:extLst>
          </p:cNvPr>
          <p:cNvSpPr/>
          <p:nvPr/>
        </p:nvSpPr>
        <p:spPr>
          <a:xfrm>
            <a:off x="1120140" y="1325563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FFBE11D2-D37F-55E1-EF64-F049CBFCB345}"/>
              </a:ext>
            </a:extLst>
          </p:cNvPr>
          <p:cNvSpPr/>
          <p:nvPr/>
        </p:nvSpPr>
        <p:spPr>
          <a:xfrm>
            <a:off x="2007992" y="1325563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7" name="Frame 16">
            <a:extLst>
              <a:ext uri="{FF2B5EF4-FFF2-40B4-BE49-F238E27FC236}">
                <a16:creationId xmlns:a16="http://schemas.microsoft.com/office/drawing/2014/main" id="{6516AA35-E565-4319-1709-2F9555FBAAE9}"/>
              </a:ext>
            </a:extLst>
          </p:cNvPr>
          <p:cNvSpPr/>
          <p:nvPr/>
        </p:nvSpPr>
        <p:spPr>
          <a:xfrm>
            <a:off x="2879990" y="1325563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43" name="Frame 42">
            <a:extLst>
              <a:ext uri="{FF2B5EF4-FFF2-40B4-BE49-F238E27FC236}">
                <a16:creationId xmlns:a16="http://schemas.microsoft.com/office/drawing/2014/main" id="{46492845-120B-4E0B-407C-5E610A0310A6}"/>
              </a:ext>
            </a:extLst>
          </p:cNvPr>
          <p:cNvSpPr/>
          <p:nvPr/>
        </p:nvSpPr>
        <p:spPr>
          <a:xfrm>
            <a:off x="3738168" y="1325563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44" name="Frame 43">
            <a:extLst>
              <a:ext uri="{FF2B5EF4-FFF2-40B4-BE49-F238E27FC236}">
                <a16:creationId xmlns:a16="http://schemas.microsoft.com/office/drawing/2014/main" id="{61D0C70F-87C5-90B8-F836-D7EBD8E77E78}"/>
              </a:ext>
            </a:extLst>
          </p:cNvPr>
          <p:cNvSpPr/>
          <p:nvPr/>
        </p:nvSpPr>
        <p:spPr>
          <a:xfrm>
            <a:off x="4626020" y="1325563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45" name="Frame 44">
            <a:extLst>
              <a:ext uri="{FF2B5EF4-FFF2-40B4-BE49-F238E27FC236}">
                <a16:creationId xmlns:a16="http://schemas.microsoft.com/office/drawing/2014/main" id="{D2B1D42E-8216-DB79-3EB9-94F80602B14E}"/>
              </a:ext>
            </a:extLst>
          </p:cNvPr>
          <p:cNvSpPr/>
          <p:nvPr/>
        </p:nvSpPr>
        <p:spPr>
          <a:xfrm>
            <a:off x="5498018" y="1325563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46" name="Frame 45">
            <a:extLst>
              <a:ext uri="{FF2B5EF4-FFF2-40B4-BE49-F238E27FC236}">
                <a16:creationId xmlns:a16="http://schemas.microsoft.com/office/drawing/2014/main" id="{A149656E-AC70-0D69-45A7-EDB359EF4D3D}"/>
              </a:ext>
            </a:extLst>
          </p:cNvPr>
          <p:cNvSpPr/>
          <p:nvPr/>
        </p:nvSpPr>
        <p:spPr>
          <a:xfrm>
            <a:off x="6367069" y="1331225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47" name="Frame 46">
            <a:extLst>
              <a:ext uri="{FF2B5EF4-FFF2-40B4-BE49-F238E27FC236}">
                <a16:creationId xmlns:a16="http://schemas.microsoft.com/office/drawing/2014/main" id="{DFE532B7-94B6-17CC-7C95-2F985BFF99C6}"/>
              </a:ext>
            </a:extLst>
          </p:cNvPr>
          <p:cNvSpPr/>
          <p:nvPr/>
        </p:nvSpPr>
        <p:spPr>
          <a:xfrm>
            <a:off x="7254921" y="1331225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48" name="Frame 47">
            <a:extLst>
              <a:ext uri="{FF2B5EF4-FFF2-40B4-BE49-F238E27FC236}">
                <a16:creationId xmlns:a16="http://schemas.microsoft.com/office/drawing/2014/main" id="{2ED7D615-05D6-C506-44AD-5AA6AF6DC34C}"/>
              </a:ext>
            </a:extLst>
          </p:cNvPr>
          <p:cNvSpPr/>
          <p:nvPr/>
        </p:nvSpPr>
        <p:spPr>
          <a:xfrm>
            <a:off x="8126919" y="1331225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49" name="Frame 48">
            <a:extLst>
              <a:ext uri="{FF2B5EF4-FFF2-40B4-BE49-F238E27FC236}">
                <a16:creationId xmlns:a16="http://schemas.microsoft.com/office/drawing/2014/main" id="{C263100D-0784-3D88-2C34-2BCA28B3030B}"/>
              </a:ext>
            </a:extLst>
          </p:cNvPr>
          <p:cNvSpPr/>
          <p:nvPr/>
        </p:nvSpPr>
        <p:spPr>
          <a:xfrm>
            <a:off x="8985097" y="1331225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50" name="Frame 49">
            <a:extLst>
              <a:ext uri="{FF2B5EF4-FFF2-40B4-BE49-F238E27FC236}">
                <a16:creationId xmlns:a16="http://schemas.microsoft.com/office/drawing/2014/main" id="{96B01DDE-F268-EF93-C725-6AB3C0C2A752}"/>
              </a:ext>
            </a:extLst>
          </p:cNvPr>
          <p:cNvSpPr/>
          <p:nvPr/>
        </p:nvSpPr>
        <p:spPr>
          <a:xfrm>
            <a:off x="9872949" y="1331225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51" name="Frame 50">
            <a:extLst>
              <a:ext uri="{FF2B5EF4-FFF2-40B4-BE49-F238E27FC236}">
                <a16:creationId xmlns:a16="http://schemas.microsoft.com/office/drawing/2014/main" id="{E84EA492-57D6-D751-E33C-3372732C21F2}"/>
              </a:ext>
            </a:extLst>
          </p:cNvPr>
          <p:cNvSpPr/>
          <p:nvPr/>
        </p:nvSpPr>
        <p:spPr>
          <a:xfrm>
            <a:off x="10744947" y="1331225"/>
            <a:ext cx="857250" cy="458992"/>
          </a:xfrm>
          <a:prstGeom prst="frame">
            <a:avLst>
              <a:gd name="adj1" fmla="val 1038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89427651-88EA-BED1-7380-D8DB5D898E8F}"/>
              </a:ext>
            </a:extLst>
          </p:cNvPr>
          <p:cNvGraphicFramePr>
            <a:graphicFrameLocks noGrp="1"/>
          </p:cNvGraphicFramePr>
          <p:nvPr/>
        </p:nvGraphicFramePr>
        <p:xfrm>
          <a:off x="237490" y="4158886"/>
          <a:ext cx="11341109" cy="1817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393">
                  <a:extLst>
                    <a:ext uri="{9D8B030D-6E8A-4147-A177-3AD203B41FA5}">
                      <a16:colId xmlns:a16="http://schemas.microsoft.com/office/drawing/2014/main" val="387325987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296568851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331551344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726901398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526213709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13142039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885138231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44973025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10100834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494294347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928810262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046766609"/>
                    </a:ext>
                  </a:extLst>
                </a:gridCol>
                <a:gridCol w="872393">
                  <a:extLst>
                    <a:ext uri="{9D8B030D-6E8A-4147-A177-3AD203B41FA5}">
                      <a16:colId xmlns:a16="http://schemas.microsoft.com/office/drawing/2014/main" val="1802761757"/>
                    </a:ext>
                  </a:extLst>
                </a:gridCol>
              </a:tblGrid>
              <a:tr h="454449">
                <a:tc>
                  <a:txBody>
                    <a:bodyPr/>
                    <a:lstStyle/>
                    <a:p>
                      <a:endParaRPr lang="en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203290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36658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93041"/>
                  </a:ext>
                </a:extLst>
              </a:tr>
              <a:tr h="454449">
                <a:tc>
                  <a:txBody>
                    <a:bodyPr/>
                    <a:lstStyle/>
                    <a:p>
                      <a:r>
                        <a:rPr lang="en-TW" dirty="0"/>
                        <a:t>block6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dip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851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130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Decision on test block design</a:t>
            </a:r>
            <a:endParaRPr lang="en-TW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66FC6-9284-42DC-EBCA-F06B1D853AE7}"/>
              </a:ext>
            </a:extLst>
          </p:cNvPr>
          <p:cNvSpPr txBox="1"/>
          <p:nvPr/>
        </p:nvSpPr>
        <p:spPr>
          <a:xfrm>
            <a:off x="142875" y="1691323"/>
            <a:ext cx="119062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Pre-compiled 18 versions of lists conforming to the counterbalancing constraints, along with within-block randomization on gorilla?</a:t>
            </a:r>
            <a:endParaRPr lang="en-TW" sz="2800" dirty="0"/>
          </a:p>
          <a:p>
            <a:endParaRPr lang="en-TW" sz="2800" dirty="0"/>
          </a:p>
        </p:txBody>
      </p:sp>
    </p:spTree>
    <p:extLst>
      <p:ext uri="{BB962C8B-B14F-4D97-AF65-F5344CB8AC3E}">
        <p14:creationId xmlns:p14="http://schemas.microsoft.com/office/powerpoint/2010/main" val="117523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C2A107-6B83-91D7-F9A5-8FA410A5B0D8}"/>
              </a:ext>
            </a:extLst>
          </p:cNvPr>
          <p:cNvSpPr txBox="1"/>
          <p:nvPr/>
        </p:nvSpPr>
        <p:spPr>
          <a:xfrm>
            <a:off x="253388" y="157356"/>
            <a:ext cx="2797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Spanish</a:t>
            </a:r>
            <a:r>
              <a:rPr lang="zh-CN" altLang="en-US" dirty="0"/>
              <a:t> </a:t>
            </a:r>
            <a:r>
              <a:rPr lang="en-US" altLang="zh-CN" dirty="0"/>
              <a:t>instruction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Avoid</a:t>
            </a:r>
            <a:r>
              <a:rPr lang="zh-CN" altLang="en-US" dirty="0"/>
              <a:t> </a:t>
            </a:r>
            <a:r>
              <a:rPr lang="en-US" altLang="zh-CN" dirty="0"/>
              <a:t>/d/,</a:t>
            </a:r>
            <a:r>
              <a:rPr lang="zh-CN" altLang="en-US" dirty="0"/>
              <a:t> </a:t>
            </a:r>
            <a:r>
              <a:rPr lang="en-US" altLang="zh-CN" dirty="0"/>
              <a:t>/t/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Keep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short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person</a:t>
            </a:r>
            <a:r>
              <a:rPr lang="zh-CN" altLang="en-US" dirty="0"/>
              <a:t> </a:t>
            </a:r>
            <a:r>
              <a:rPr lang="en-US" altLang="zh-CN" dirty="0"/>
              <a:t>perspective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audio?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CC1561-5E9A-EE75-D7CD-89E9E46BE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971" y="2106865"/>
            <a:ext cx="8476563" cy="467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626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7DC09E-3156-39EB-3CC6-62DB75304BD5}"/>
              </a:ext>
            </a:extLst>
          </p:cNvPr>
          <p:cNvSpPr txBox="1"/>
          <p:nvPr/>
        </p:nvSpPr>
        <p:spPr>
          <a:xfrm>
            <a:off x="253388" y="154236"/>
            <a:ext cx="198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General</a:t>
            </a:r>
            <a:r>
              <a:rPr lang="zh-CN" altLang="en-US" dirty="0"/>
              <a:t> </a:t>
            </a:r>
            <a:r>
              <a:rPr lang="en-US" altLang="zh-CN" dirty="0"/>
              <a:t>instruction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6EB46-FAED-3DE2-DACD-F920CC9FA7E3}"/>
              </a:ext>
            </a:extLst>
          </p:cNvPr>
          <p:cNvSpPr txBox="1"/>
          <p:nvPr/>
        </p:nvSpPr>
        <p:spPr>
          <a:xfrm>
            <a:off x="253388" y="523568"/>
            <a:ext cx="5142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ask</a:t>
            </a:r>
            <a:r>
              <a:rPr lang="zh-CN" altLang="en-US" dirty="0"/>
              <a:t> </a:t>
            </a:r>
            <a:r>
              <a:rPr lang="en-US" altLang="zh-CN" dirty="0"/>
              <a:t>participants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respond</a:t>
            </a:r>
            <a:r>
              <a:rPr lang="zh-CN" altLang="en-US" dirty="0"/>
              <a:t> </a:t>
            </a:r>
            <a:r>
              <a:rPr lang="en-US" altLang="zh-CN" dirty="0"/>
              <a:t>quickly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accurately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25CB16-8EEF-AF8B-0672-90D7C12815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51"/>
          <a:stretch>
            <a:fillRect/>
          </a:stretch>
        </p:blipFill>
        <p:spPr>
          <a:xfrm>
            <a:off x="487184" y="1082123"/>
            <a:ext cx="7772400" cy="303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6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8C76-D18F-9C1B-1192-CD6192CC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To-dos:</a:t>
            </a:r>
            <a:endParaRPr lang="en-TW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66FC6-9284-42DC-EBCA-F06B1D853AE7}"/>
              </a:ext>
            </a:extLst>
          </p:cNvPr>
          <p:cNvSpPr txBox="1"/>
          <p:nvPr/>
        </p:nvSpPr>
        <p:spPr>
          <a:xfrm>
            <a:off x="71437" y="1325563"/>
            <a:ext cx="120491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Finalize counterbalancing stimuli lists</a:t>
            </a:r>
          </a:p>
          <a:p>
            <a:r>
              <a:rPr lang="en-US" sz="2800" dirty="0"/>
              <a:t>Finalize Spanish context materials</a:t>
            </a:r>
            <a:endParaRPr lang="en-TW" sz="2800" dirty="0"/>
          </a:p>
          <a:p>
            <a:r>
              <a:rPr lang="en-TW" sz="2800" dirty="0"/>
              <a:t>Gorilla setup (earphone screening, Spanish context setup, instruction, practice, exposure, test, break, post-test questionnaire)</a:t>
            </a:r>
          </a:p>
        </p:txBody>
      </p:sp>
    </p:spTree>
    <p:extLst>
      <p:ext uri="{BB962C8B-B14F-4D97-AF65-F5344CB8AC3E}">
        <p14:creationId xmlns:p14="http://schemas.microsoft.com/office/powerpoint/2010/main" val="2461701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784</Words>
  <Application>Microsoft Macintosh PowerPoint</Application>
  <PresentationFormat>Widescreen</PresentationFormat>
  <Paragraphs>416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RT distribution, test block design, instructions, and Spanish context setup</vt:lpstr>
      <vt:lpstr>2026/06/05 updates</vt:lpstr>
      <vt:lpstr>Raw RT data distribution</vt:lpstr>
      <vt:lpstr>Log RT data distribution after data exclusion</vt:lpstr>
      <vt:lpstr>Group level results aggregated over word pairs</vt:lpstr>
      <vt:lpstr>Model prediction from Tan &amp; Jaeger (2025)</vt:lpstr>
      <vt:lpstr>Group level results by different word pairs</vt:lpstr>
      <vt:lpstr>RT distribution in Tan &amp; Jaeger (2025)</vt:lpstr>
      <vt:lpstr>RT distribution in Tan &amp; Jaeger (2025)</vt:lpstr>
      <vt:lpstr>Decision on timeout limit</vt:lpstr>
      <vt:lpstr>Test blocks design</vt:lpstr>
      <vt:lpstr>Test blocks design</vt:lpstr>
      <vt:lpstr>Test blocks design</vt:lpstr>
      <vt:lpstr>Test blocks design</vt:lpstr>
      <vt:lpstr>Test blocks design</vt:lpstr>
      <vt:lpstr>Test blocks design</vt:lpstr>
      <vt:lpstr>Test blocks design</vt:lpstr>
      <vt:lpstr>Decision on test block design</vt:lpstr>
      <vt:lpstr>PowerPoint Presentation</vt:lpstr>
      <vt:lpstr>PowerPoint Presentation</vt:lpstr>
      <vt:lpstr>To-dos: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Norming results</dc:title>
  <dc:creator>Microsoft Office User</dc:creator>
  <cp:lastModifiedBy>Microsoft Office User</cp:lastModifiedBy>
  <cp:revision>152</cp:revision>
  <dcterms:created xsi:type="dcterms:W3CDTF">2026-04-12T17:50:06Z</dcterms:created>
  <dcterms:modified xsi:type="dcterms:W3CDTF">2026-06-09T23:09:28Z</dcterms:modified>
</cp:coreProperties>
</file>